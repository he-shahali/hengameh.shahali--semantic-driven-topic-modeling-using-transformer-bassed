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74" r:id="rId3"/>
    <p:sldId id="290" r:id="rId4"/>
    <p:sldId id="291" r:id="rId5"/>
    <p:sldId id="292" r:id="rId6"/>
    <p:sldId id="293" r:id="rId7"/>
    <p:sldId id="289" r:id="rId8"/>
    <p:sldId id="283" r:id="rId9"/>
  </p:sldIdLst>
  <p:sldSz cx="14630400" cy="8229600"/>
  <p:notesSz cx="8229600" cy="14630400"/>
  <p:embeddedFontLst>
    <p:embeddedFont>
      <p:font typeface="Calibri" panose="020F0502020204030204" pitchFamily="34" charset="0"/>
      <p:regular r:id="rId11"/>
      <p:bold r:id="rId12"/>
      <p:italic r:id="rId13"/>
      <p:boldItalic r:id="rId14"/>
    </p:embeddedFont>
    <p:embeddedFont>
      <p:font typeface="Calibri Light" panose="020F0302020204030204" pitchFamily="34" charset="0"/>
      <p:regular r:id="rId15"/>
      <p:italic r:id="rId16"/>
    </p:embeddedFont>
    <p:embeddedFont>
      <p:font typeface="Cambria Math" panose="02040503050406030204" pitchFamily="18"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0" d="100"/>
          <a:sy n="60" d="100"/>
        </p:scale>
        <p:origin x="989"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744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with 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38C5F0-DD3F-421F-B67F-B1E6D9834A54}"/>
              </a:ext>
            </a:extLst>
          </p:cNvPr>
          <p:cNvSpPr/>
          <p:nvPr userDrawn="1"/>
        </p:nvSpPr>
        <p:spPr>
          <a:xfrm>
            <a:off x="216000" y="-1"/>
            <a:ext cx="7874117" cy="8229601"/>
          </a:xfrm>
          <a:prstGeom prst="rect">
            <a:avLst/>
          </a:prstGeom>
          <a:gradFill>
            <a:gsLst>
              <a:gs pos="0">
                <a:schemeClr val="tx1">
                  <a:lumMod val="75000"/>
                  <a:lumOff val="25000"/>
                </a:schemeClr>
              </a:gs>
              <a:gs pos="100000">
                <a:schemeClr val="tx1"/>
              </a:gs>
            </a:gsLst>
            <a:lin ang="5400000" scaled="0"/>
          </a:gradFill>
          <a:ln>
            <a:noFill/>
          </a:ln>
          <a:effectLst>
            <a:outerShdw blurRad="228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lvl="0" algn="ctr"/>
            <a:endParaRPr lang="en-US" sz="2160" noProof="0" dirty="0"/>
          </a:p>
        </p:txBody>
      </p:sp>
      <p:sp>
        <p:nvSpPr>
          <p:cNvPr id="10" name="Picture Placeholder 9">
            <a:extLst>
              <a:ext uri="{FF2B5EF4-FFF2-40B4-BE49-F238E27FC236}">
                <a16:creationId xmlns:a16="http://schemas.microsoft.com/office/drawing/2014/main" id="{140927D5-AE1A-4ABD-BD8F-2F78723FF0D6}"/>
              </a:ext>
            </a:extLst>
          </p:cNvPr>
          <p:cNvSpPr>
            <a:spLocks noGrp="1"/>
          </p:cNvSpPr>
          <p:nvPr userDrawn="1">
            <p:ph type="pic" sz="quarter" idx="10" hasCustomPrompt="1"/>
          </p:nvPr>
        </p:nvSpPr>
        <p:spPr>
          <a:xfrm>
            <a:off x="7499070" y="-2"/>
            <a:ext cx="7111868" cy="8229599"/>
          </a:xfrm>
          <a:solidFill>
            <a:schemeClr val="tx1">
              <a:lumMod val="75000"/>
              <a:lumOff val="25000"/>
            </a:schemeClr>
          </a:solidFill>
        </p:spPr>
        <p:txBody>
          <a:bodyPr anchor="ctr"/>
          <a:lstStyle>
            <a:lvl1pPr marL="0" indent="0" algn="ctr">
              <a:buNone/>
              <a:defRPr sz="192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and Drop your Image</a:t>
            </a:r>
          </a:p>
        </p:txBody>
      </p:sp>
      <p:sp>
        <p:nvSpPr>
          <p:cNvPr id="9" name="Graphic 2">
            <a:extLst>
              <a:ext uri="{FF2B5EF4-FFF2-40B4-BE49-F238E27FC236}">
                <a16:creationId xmlns:a16="http://schemas.microsoft.com/office/drawing/2014/main" id="{07258B3B-F27C-4B7D-A23C-8548E3945C82}"/>
              </a:ext>
            </a:extLst>
          </p:cNvPr>
          <p:cNvSpPr/>
          <p:nvPr userDrawn="1"/>
        </p:nvSpPr>
        <p:spPr>
          <a:xfrm flipH="1">
            <a:off x="216001" y="7108312"/>
            <a:ext cx="2795038" cy="1121288"/>
          </a:xfrm>
          <a:custGeom>
            <a:avLst/>
            <a:gdLst>
              <a:gd name="connsiteX0" fmla="*/ 7144 w 6505575"/>
              <a:gd name="connsiteY0" fmla="*/ 2606393 h 2609850"/>
              <a:gd name="connsiteX1" fmla="*/ 881539 w 6505575"/>
              <a:gd name="connsiteY1" fmla="*/ 2062516 h 2609850"/>
              <a:gd name="connsiteX2" fmla="*/ 1477804 w 6505575"/>
              <a:gd name="connsiteY2" fmla="*/ 2056801 h 2609850"/>
              <a:gd name="connsiteX3" fmla="*/ 1569244 w 6505575"/>
              <a:gd name="connsiteY3" fmla="*/ 2112046 h 2609850"/>
              <a:gd name="connsiteX4" fmla="*/ 2539841 w 6505575"/>
              <a:gd name="connsiteY4" fmla="*/ 2084423 h 2609850"/>
              <a:gd name="connsiteX5" fmla="*/ 3238976 w 6505575"/>
              <a:gd name="connsiteY5" fmla="*/ 1611031 h 2609850"/>
              <a:gd name="connsiteX6" fmla="*/ 3642836 w 6505575"/>
              <a:gd name="connsiteY6" fmla="*/ 1590076 h 2609850"/>
              <a:gd name="connsiteX7" fmla="*/ 3963829 w 6505575"/>
              <a:gd name="connsiteY7" fmla="*/ 1762478 h 2609850"/>
              <a:gd name="connsiteX8" fmla="*/ 4862989 w 6505575"/>
              <a:gd name="connsiteY8" fmla="*/ 1455773 h 2609850"/>
              <a:gd name="connsiteX9" fmla="*/ 5106829 w 6505575"/>
              <a:gd name="connsiteY9" fmla="*/ 734731 h 2609850"/>
              <a:gd name="connsiteX10" fmla="*/ 6034564 w 6505575"/>
              <a:gd name="connsiteY10" fmla="*/ 69886 h 2609850"/>
              <a:gd name="connsiteX11" fmla="*/ 6507004 w 6505575"/>
              <a:gd name="connsiteY11" fmla="*/ 649006 h 2609850"/>
              <a:gd name="connsiteX12" fmla="*/ 6507004 w 6505575"/>
              <a:gd name="connsiteY12" fmla="*/ 2606393 h 2609850"/>
              <a:gd name="connsiteX13" fmla="*/ 7144 w 6505575"/>
              <a:gd name="connsiteY13" fmla="*/ 2606393 h 2609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05575" h="2609850">
                <a:moveTo>
                  <a:pt x="7144" y="2606393"/>
                </a:moveTo>
                <a:lnTo>
                  <a:pt x="881539" y="2062516"/>
                </a:lnTo>
                <a:cubicBezTo>
                  <a:pt x="1063466" y="1949168"/>
                  <a:pt x="1293971" y="1947263"/>
                  <a:pt x="1477804" y="2056801"/>
                </a:cubicBezTo>
                <a:lnTo>
                  <a:pt x="1569244" y="2112046"/>
                </a:lnTo>
                <a:cubicBezTo>
                  <a:pt x="1870234" y="2292068"/>
                  <a:pt x="2248376" y="2280638"/>
                  <a:pt x="2539841" y="2084423"/>
                </a:cubicBezTo>
                <a:lnTo>
                  <a:pt x="3238976" y="1611031"/>
                </a:lnTo>
                <a:cubicBezTo>
                  <a:pt x="3358991" y="1529116"/>
                  <a:pt x="3515201" y="1521496"/>
                  <a:pt x="3642836" y="1590076"/>
                </a:cubicBezTo>
                <a:lnTo>
                  <a:pt x="3963829" y="1762478"/>
                </a:lnTo>
                <a:cubicBezTo>
                  <a:pt x="4295299" y="1940596"/>
                  <a:pt x="4708684" y="1799626"/>
                  <a:pt x="4862989" y="1455773"/>
                </a:cubicBezTo>
                <a:lnTo>
                  <a:pt x="5106829" y="734731"/>
                </a:lnTo>
                <a:cubicBezTo>
                  <a:pt x="5235417" y="163231"/>
                  <a:pt x="5870734" y="-130139"/>
                  <a:pt x="6034564" y="69886"/>
                </a:cubicBezTo>
                <a:lnTo>
                  <a:pt x="6507004" y="649006"/>
                </a:lnTo>
                <a:lnTo>
                  <a:pt x="6507004" y="2606393"/>
                </a:lnTo>
                <a:lnTo>
                  <a:pt x="7144" y="2606393"/>
                </a:lnTo>
                <a:close/>
              </a:path>
            </a:pathLst>
          </a:custGeom>
          <a:gradFill flip="none" rotWithShape="1">
            <a:gsLst>
              <a:gs pos="0">
                <a:srgbClr val="FD0353"/>
              </a:gs>
              <a:gs pos="100000">
                <a:srgbClr val="4E3BAD"/>
              </a:gs>
            </a:gsLst>
            <a:lin ang="18900000" scaled="1"/>
            <a:tileRect/>
          </a:gra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en-US" sz="2160" noProof="0" dirty="0">
              <a:solidFill>
                <a:schemeClr val="lt1"/>
              </a:solidFill>
            </a:endParaRPr>
          </a:p>
        </p:txBody>
      </p:sp>
      <p:sp>
        <p:nvSpPr>
          <p:cNvPr id="11" name="Graphic 1318">
            <a:extLst>
              <a:ext uri="{FF2B5EF4-FFF2-40B4-BE49-F238E27FC236}">
                <a16:creationId xmlns:a16="http://schemas.microsoft.com/office/drawing/2014/main" id="{1C96E32E-5EED-4364-AD42-000B0644E093}"/>
              </a:ext>
            </a:extLst>
          </p:cNvPr>
          <p:cNvSpPr/>
          <p:nvPr userDrawn="1"/>
        </p:nvSpPr>
        <p:spPr>
          <a:xfrm flipH="1">
            <a:off x="216002" y="7791449"/>
            <a:ext cx="1891352" cy="438151"/>
          </a:xfrm>
          <a:custGeom>
            <a:avLst/>
            <a:gdLst>
              <a:gd name="connsiteX0" fmla="*/ 7144 w 2466975"/>
              <a:gd name="connsiteY0" fmla="*/ 565344 h 571500"/>
              <a:gd name="connsiteX1" fmla="*/ 427196 w 2466975"/>
              <a:gd name="connsiteY1" fmla="*/ 310074 h 571500"/>
              <a:gd name="connsiteX2" fmla="*/ 1946434 w 2466975"/>
              <a:gd name="connsiteY2" fmla="*/ 53851 h 571500"/>
              <a:gd name="connsiteX3" fmla="*/ 2464594 w 2466975"/>
              <a:gd name="connsiteY3" fmla="*/ 165294 h 571500"/>
              <a:gd name="connsiteX4" fmla="*/ 2464594 w 2466975"/>
              <a:gd name="connsiteY4" fmla="*/ 565344 h 571500"/>
              <a:gd name="connsiteX5" fmla="*/ 7144 w 2466975"/>
              <a:gd name="connsiteY5" fmla="*/ 565344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6975" h="571500">
                <a:moveTo>
                  <a:pt x="7144" y="565344"/>
                </a:moveTo>
                <a:lnTo>
                  <a:pt x="427196" y="310074"/>
                </a:lnTo>
                <a:cubicBezTo>
                  <a:pt x="882491" y="33849"/>
                  <a:pt x="1426369" y="-58544"/>
                  <a:pt x="1946434" y="53851"/>
                </a:cubicBezTo>
                <a:lnTo>
                  <a:pt x="2464594" y="165294"/>
                </a:lnTo>
                <a:lnTo>
                  <a:pt x="2464594" y="565344"/>
                </a:lnTo>
                <a:lnTo>
                  <a:pt x="7144" y="565344"/>
                </a:lnTo>
                <a:close/>
              </a:path>
            </a:pathLst>
          </a:custGeom>
          <a:gradFill flip="none" rotWithShape="1">
            <a:gsLst>
              <a:gs pos="0">
                <a:srgbClr val="FC0251"/>
              </a:gs>
              <a:gs pos="100000">
                <a:srgbClr val="00A5CD"/>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en-US" sz="2160" noProof="0" dirty="0">
              <a:solidFill>
                <a:schemeClr val="lt1"/>
              </a:solidFill>
            </a:endParaRPr>
          </a:p>
        </p:txBody>
      </p:sp>
      <p:sp>
        <p:nvSpPr>
          <p:cNvPr id="2" name="Title 1">
            <a:extLst>
              <a:ext uri="{FF2B5EF4-FFF2-40B4-BE49-F238E27FC236}">
                <a16:creationId xmlns:a16="http://schemas.microsoft.com/office/drawing/2014/main" id="{8487E03C-DE68-4CE8-A7F1-B9DD28846BC8}"/>
              </a:ext>
            </a:extLst>
          </p:cNvPr>
          <p:cNvSpPr>
            <a:spLocks noGrp="1"/>
          </p:cNvSpPr>
          <p:nvPr userDrawn="1">
            <p:ph type="ctrTitle"/>
          </p:nvPr>
        </p:nvSpPr>
        <p:spPr>
          <a:xfrm>
            <a:off x="788672" y="3289936"/>
            <a:ext cx="6137728" cy="2865120"/>
          </a:xfrm>
        </p:spPr>
        <p:txBody>
          <a:bodyPr anchor="b"/>
          <a:lstStyle>
            <a:lvl1pPr algn="l">
              <a:lnSpc>
                <a:spcPts val="6000"/>
              </a:lnSpc>
              <a:defRPr sz="7200">
                <a:solidFill>
                  <a:schemeClr val="bg1"/>
                </a:solidFill>
              </a:defRPr>
            </a:lvl1pPr>
          </a:lstStyle>
          <a:p>
            <a:r>
              <a:rPr lang="en-US" noProof="0" dirty="0"/>
              <a:t>Click to edit Master title style</a:t>
            </a:r>
          </a:p>
        </p:txBody>
      </p:sp>
      <p:sp>
        <p:nvSpPr>
          <p:cNvPr id="3" name="Subtitle 2">
            <a:extLst>
              <a:ext uri="{FF2B5EF4-FFF2-40B4-BE49-F238E27FC236}">
                <a16:creationId xmlns:a16="http://schemas.microsoft.com/office/drawing/2014/main" id="{7EEE8855-FE55-4351-B21B-FE33CB8050C1}"/>
              </a:ext>
            </a:extLst>
          </p:cNvPr>
          <p:cNvSpPr>
            <a:spLocks noGrp="1"/>
          </p:cNvSpPr>
          <p:nvPr userDrawn="1">
            <p:ph type="subTitle" idx="1"/>
          </p:nvPr>
        </p:nvSpPr>
        <p:spPr>
          <a:xfrm>
            <a:off x="788672" y="6448426"/>
            <a:ext cx="6137728" cy="1255394"/>
          </a:xfrm>
        </p:spPr>
        <p:txBody>
          <a:bodyPr/>
          <a:lstStyle>
            <a:lvl1pPr marL="0" indent="0" algn="l">
              <a:buNone/>
              <a:defRPr sz="2880">
                <a:solidFill>
                  <a:schemeClr val="bg1"/>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noProof="0"/>
              <a:t>Click to edit Master subtitle style</a:t>
            </a:r>
          </a:p>
        </p:txBody>
      </p:sp>
      <p:sp>
        <p:nvSpPr>
          <p:cNvPr id="6" name="Rectangle 5">
            <a:extLst>
              <a:ext uri="{FF2B5EF4-FFF2-40B4-BE49-F238E27FC236}">
                <a16:creationId xmlns:a16="http://schemas.microsoft.com/office/drawing/2014/main" id="{A860F26B-727B-4098-8DA8-CB088D629D58}"/>
              </a:ext>
            </a:extLst>
          </p:cNvPr>
          <p:cNvSpPr/>
          <p:nvPr userDrawn="1"/>
        </p:nvSpPr>
        <p:spPr>
          <a:xfrm>
            <a:off x="0" y="0"/>
            <a:ext cx="2160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60" noProof="0" dirty="0"/>
          </a:p>
        </p:txBody>
      </p:sp>
      <p:sp>
        <p:nvSpPr>
          <p:cNvPr id="13" name="Oval 12">
            <a:extLst>
              <a:ext uri="{FF2B5EF4-FFF2-40B4-BE49-F238E27FC236}">
                <a16:creationId xmlns:a16="http://schemas.microsoft.com/office/drawing/2014/main" id="{5E751D76-8783-4005-B4E5-D67E235A5BAD}"/>
              </a:ext>
            </a:extLst>
          </p:cNvPr>
          <p:cNvSpPr/>
          <p:nvPr userDrawn="1"/>
        </p:nvSpPr>
        <p:spPr>
          <a:xfrm>
            <a:off x="788673" y="1045839"/>
            <a:ext cx="1622840" cy="1622840"/>
          </a:xfrm>
          <a:prstGeom prst="ellipse">
            <a:avLst/>
          </a:prstGeom>
          <a:gradFill flip="none" rotWithShape="1">
            <a:gsLst>
              <a:gs pos="0">
                <a:srgbClr val="4E3BAD"/>
              </a:gs>
              <a:gs pos="100000">
                <a:srgbClr val="FD0353"/>
              </a:gs>
            </a:gsLst>
            <a:lin ang="12600000" scaled="0"/>
            <a:tileRect/>
          </a:gra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en-US" sz="2160" noProof="0" dirty="0"/>
          </a:p>
        </p:txBody>
      </p:sp>
      <p:sp>
        <p:nvSpPr>
          <p:cNvPr id="14" name="Oval 13">
            <a:extLst>
              <a:ext uri="{FF2B5EF4-FFF2-40B4-BE49-F238E27FC236}">
                <a16:creationId xmlns:a16="http://schemas.microsoft.com/office/drawing/2014/main" id="{966C7A50-4018-4974-AB47-424E0ECC0F14}"/>
              </a:ext>
            </a:extLst>
          </p:cNvPr>
          <p:cNvSpPr/>
          <p:nvPr userDrawn="1"/>
        </p:nvSpPr>
        <p:spPr>
          <a:xfrm>
            <a:off x="2360937" y="621256"/>
            <a:ext cx="424583" cy="424583"/>
          </a:xfrm>
          <a:prstGeom prst="ellipse">
            <a:avLst/>
          </a:prstGeom>
          <a:solidFill>
            <a:schemeClr val="bg1">
              <a:lumMod val="95000"/>
            </a:schemeClr>
          </a:soli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en-US" sz="2160" noProof="0" dirty="0"/>
          </a:p>
        </p:txBody>
      </p:sp>
      <p:sp>
        <p:nvSpPr>
          <p:cNvPr id="15" name="Oval 14">
            <a:extLst>
              <a:ext uri="{FF2B5EF4-FFF2-40B4-BE49-F238E27FC236}">
                <a16:creationId xmlns:a16="http://schemas.microsoft.com/office/drawing/2014/main" id="{478306B7-6A26-45F7-BD50-EEC8AB3C29B7}"/>
              </a:ext>
            </a:extLst>
          </p:cNvPr>
          <p:cNvSpPr/>
          <p:nvPr userDrawn="1"/>
        </p:nvSpPr>
        <p:spPr>
          <a:xfrm>
            <a:off x="788671" y="2233999"/>
            <a:ext cx="318996" cy="318996"/>
          </a:xfrm>
          <a:prstGeom prst="ellipse">
            <a:avLst/>
          </a:prstGeom>
          <a:solidFill>
            <a:schemeClr val="bg1">
              <a:lumMod val="95000"/>
            </a:schemeClr>
          </a:soli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p>
            <a:pPr algn="ctr"/>
            <a:endParaRPr lang="en-US" sz="2160" noProof="0" dirty="0"/>
          </a:p>
        </p:txBody>
      </p:sp>
    </p:spTree>
    <p:extLst>
      <p:ext uri="{BB962C8B-B14F-4D97-AF65-F5344CB8AC3E}">
        <p14:creationId xmlns:p14="http://schemas.microsoft.com/office/powerpoint/2010/main" val="2853169463"/>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l="-3000" r="-3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close up of a network&#10;&#10;AI-generated content may be incorrect.">
            <a:extLst>
              <a:ext uri="{FF2B5EF4-FFF2-40B4-BE49-F238E27FC236}">
                <a16:creationId xmlns:a16="http://schemas.microsoft.com/office/drawing/2014/main" id="{12BA8E4D-2437-8A42-F481-CBABE06D8586}"/>
              </a:ext>
            </a:extLst>
          </p:cNvPr>
          <p:cNvPicPr>
            <a:picLocks noGrp="1" noChangeAspect="1"/>
          </p:cNvPicPr>
          <p:nvPr>
            <p:ph type="pic" sz="quarter" idx="10"/>
          </p:nvPr>
        </p:nvPicPr>
        <p:blipFill>
          <a:blip r:embed="rId2"/>
          <a:srcRect l="20432" r="20432"/>
          <a:stretch>
            <a:fillRect/>
          </a:stretch>
        </p:blipFill>
        <p:spPr/>
      </p:pic>
      <p:sp>
        <p:nvSpPr>
          <p:cNvPr id="4" name="Title 3">
            <a:extLst>
              <a:ext uri="{FF2B5EF4-FFF2-40B4-BE49-F238E27FC236}">
                <a16:creationId xmlns:a16="http://schemas.microsoft.com/office/drawing/2014/main" id="{D65A836F-346F-4099-BC7B-0D8F3B27F395}"/>
              </a:ext>
            </a:extLst>
          </p:cNvPr>
          <p:cNvSpPr>
            <a:spLocks noGrp="1"/>
          </p:cNvSpPr>
          <p:nvPr>
            <p:ph type="ctrTitle"/>
          </p:nvPr>
        </p:nvSpPr>
        <p:spPr>
          <a:xfrm>
            <a:off x="263237" y="2832971"/>
            <a:ext cx="7407564" cy="2756773"/>
          </a:xfrm>
        </p:spPr>
        <p:txBody>
          <a:bodyPr/>
          <a:lstStyle/>
          <a:p>
            <a:pPr algn="ctr" rtl="1">
              <a:lnSpc>
                <a:spcPct val="115000"/>
              </a:lnSpc>
              <a:spcAft>
                <a:spcPts val="800"/>
              </a:spcAft>
            </a:pPr>
            <a:r>
              <a:rPr lang="en-US" sz="4000" b="1" dirty="0">
                <a:solidFill>
                  <a:srgbClr val="FFC000"/>
                </a:solidFill>
                <a:latin typeface="Times New Roman" panose="02020603050405020304" pitchFamily="18" charset="0"/>
                <a:cs typeface="Times New Roman" panose="02020603050405020304" pitchFamily="18" charset="0"/>
              </a:rPr>
              <a:t>Semantic-Driven Topic Modeling Using Transformer-Based Embeddings and Clustering Algorithms</a:t>
            </a:r>
            <a:r>
              <a:rPr lang="en-US" sz="3200" b="1" dirty="0">
                <a:solidFill>
                  <a:srgbClr val="FFC000"/>
                </a:solidFill>
                <a:latin typeface="Times New Roman" panose="02020603050405020304" pitchFamily="18" charset="0"/>
                <a:cs typeface="Times New Roman" panose="02020603050405020304" pitchFamily="18" charset="0"/>
              </a:rPr>
              <a:t> </a:t>
            </a:r>
            <a:endParaRPr lang="en-US" sz="3200" b="1" kern="100" dirty="0">
              <a:solidFill>
                <a:srgbClr val="FFC000"/>
              </a:solidFill>
              <a:latin typeface="Times New Roman" panose="02020603050405020304" pitchFamily="18" charset="0"/>
              <a:ea typeface="Aptos" panose="020B0004020202020204" pitchFamily="34" charset="0"/>
              <a:cs typeface="Times New Roman" panose="02020603050405020304" pitchFamily="18" charset="0"/>
            </a:endParaRPr>
          </a:p>
        </p:txBody>
      </p:sp>
      <p:pic>
        <p:nvPicPr>
          <p:cNvPr id="6" name="Picture Placeholder 6" descr="A close up of a network&#10;&#10;AI-generated content may be incorrect.">
            <a:extLst>
              <a:ext uri="{FF2B5EF4-FFF2-40B4-BE49-F238E27FC236}">
                <a16:creationId xmlns:a16="http://schemas.microsoft.com/office/drawing/2014/main" id="{A1C2CF9A-7767-4218-87B7-D6E4A0CF5544}"/>
              </a:ext>
            </a:extLst>
          </p:cNvPr>
          <p:cNvPicPr>
            <a:picLocks noChangeAspect="1"/>
          </p:cNvPicPr>
          <p:nvPr/>
        </p:nvPicPr>
        <p:blipFill>
          <a:blip r:embed="rId2"/>
          <a:srcRect l="20432" r="20432"/>
          <a:stretch>
            <a:fillRect/>
          </a:stretch>
        </p:blipFill>
        <p:spPr>
          <a:xfrm>
            <a:off x="6249224" y="-2"/>
            <a:ext cx="5926557" cy="6857999"/>
          </a:xfrm>
          <a:solidFill>
            <a:schemeClr val="tx1">
              <a:lumMod val="75000"/>
              <a:lumOff val="25000"/>
            </a:schemeClr>
          </a:solidFill>
        </p:spPr>
      </p:pic>
      <p:pic>
        <p:nvPicPr>
          <p:cNvPr id="9" name="Picture Placeholder 6" descr="A close up of a network&#10;&#10;AI-generated content may be incorrect.">
            <a:extLst>
              <a:ext uri="{FF2B5EF4-FFF2-40B4-BE49-F238E27FC236}">
                <a16:creationId xmlns:a16="http://schemas.microsoft.com/office/drawing/2014/main" id="{7C51DBAF-C2CC-4320-87AC-146C5E116958}"/>
              </a:ext>
            </a:extLst>
          </p:cNvPr>
          <p:cNvPicPr>
            <a:picLocks noChangeAspect="1"/>
          </p:cNvPicPr>
          <p:nvPr/>
        </p:nvPicPr>
        <p:blipFill>
          <a:blip r:embed="rId2"/>
          <a:srcRect l="20432" r="20432"/>
          <a:stretch>
            <a:fillRect/>
          </a:stretch>
        </p:blipFill>
        <p:spPr>
          <a:xfrm>
            <a:off x="7499071" y="-1"/>
            <a:ext cx="7111867" cy="8229597"/>
          </a:xfrm>
          <a:prstGeom prst="rect">
            <a:avLst/>
          </a:prstGeom>
          <a:solidFill>
            <a:sysClr val="windowText" lastClr="000000">
              <a:lumMod val="75000"/>
              <a:lumOff val="25000"/>
            </a:sysClr>
          </a:solidFill>
        </p:spPr>
      </p:pic>
      <p:pic>
        <p:nvPicPr>
          <p:cNvPr id="11" name="Picture 10">
            <a:extLst>
              <a:ext uri="{FF2B5EF4-FFF2-40B4-BE49-F238E27FC236}">
                <a16:creationId xmlns:a16="http://schemas.microsoft.com/office/drawing/2014/main" id="{2BDA3480-2088-4674-ADBB-498E8D666252}"/>
              </a:ext>
            </a:extLst>
          </p:cNvPr>
          <p:cNvPicPr>
            <a:picLocks noChangeAspect="1"/>
          </p:cNvPicPr>
          <p:nvPr/>
        </p:nvPicPr>
        <p:blipFill>
          <a:blip r:embed="rId3"/>
          <a:stretch>
            <a:fillRect/>
          </a:stretch>
        </p:blipFill>
        <p:spPr>
          <a:xfrm>
            <a:off x="595052" y="831858"/>
            <a:ext cx="2001113" cy="2001113"/>
          </a:xfrm>
          <a:prstGeom prst="rect">
            <a:avLst/>
          </a:prstGeom>
        </p:spPr>
      </p:pic>
      <p:sp>
        <p:nvSpPr>
          <p:cNvPr id="15" name="TextBox 14">
            <a:extLst>
              <a:ext uri="{FF2B5EF4-FFF2-40B4-BE49-F238E27FC236}">
                <a16:creationId xmlns:a16="http://schemas.microsoft.com/office/drawing/2014/main" id="{CDE1EE17-DCC9-4B5B-8943-051426A2AEB2}"/>
              </a:ext>
            </a:extLst>
          </p:cNvPr>
          <p:cNvSpPr txBox="1"/>
          <p:nvPr/>
        </p:nvSpPr>
        <p:spPr>
          <a:xfrm>
            <a:off x="1739866" y="6106154"/>
            <a:ext cx="4509358" cy="830997"/>
          </a:xfrm>
          <a:prstGeom prst="rect">
            <a:avLst/>
          </a:prstGeom>
          <a:noFill/>
        </p:spPr>
        <p:txBody>
          <a:bodyPr wrap="square" rtlCol="0">
            <a:spAutoFit/>
          </a:bodyPr>
          <a:lstStyle/>
          <a:p>
            <a:pPr algn="ctr"/>
            <a:r>
              <a:rPr lang="en-US" sz="2400" b="1" dirty="0">
                <a:solidFill>
                  <a:srgbClr val="99FF33"/>
                </a:solidFill>
                <a:latin typeface="Times New Roman" panose="02020603050405020304" pitchFamily="18" charset="0"/>
                <a:cs typeface="Times New Roman" panose="02020603050405020304" pitchFamily="18" charset="0"/>
              </a:rPr>
              <a:t>Student:  Hengameh Shah Ali</a:t>
            </a:r>
          </a:p>
          <a:p>
            <a:pPr algn="ctr"/>
            <a:r>
              <a:rPr lang="en-US" sz="2400" b="1" dirty="0">
                <a:solidFill>
                  <a:srgbClr val="99FF33"/>
                </a:solidFill>
                <a:latin typeface="Times New Roman" panose="02020603050405020304" pitchFamily="18" charset="0"/>
                <a:cs typeface="Times New Roman" panose="02020603050405020304" pitchFamily="18" charset="0"/>
              </a:rPr>
              <a:t>            40307604 </a:t>
            </a:r>
            <a:r>
              <a:rPr lang="fa-IR" sz="2400" b="1" dirty="0">
                <a:solidFill>
                  <a:srgbClr val="99FF33"/>
                </a:solidFill>
                <a:latin typeface="Times New Roman" panose="02020603050405020304" pitchFamily="18" charset="0"/>
                <a:cs typeface="Times New Roman" panose="02020603050405020304" pitchFamily="18" charset="0"/>
              </a:rPr>
              <a:t>           </a:t>
            </a:r>
            <a:endParaRPr lang="en-US" sz="2400" b="1" dirty="0">
              <a:solidFill>
                <a:srgbClr val="99FF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351924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3DE7FE-FC2F-40B8-B3AF-FF5DE6B28CB2}"/>
              </a:ext>
            </a:extLst>
          </p:cNvPr>
          <p:cNvSpPr txBox="1"/>
          <p:nvPr/>
        </p:nvSpPr>
        <p:spPr>
          <a:xfrm>
            <a:off x="0" y="205952"/>
            <a:ext cx="2882638" cy="483017"/>
          </a:xfrm>
          <a:prstGeom prst="rect">
            <a:avLst/>
          </a:prstGeom>
          <a:noFill/>
        </p:spPr>
        <p:txBody>
          <a:bodyPr wrap="square">
            <a:spAutoFit/>
          </a:bodyPr>
          <a:lstStyle/>
          <a:p>
            <a:pPr marR="0" lvl="0" algn="r" rtl="1">
              <a:lnSpc>
                <a:spcPct val="115000"/>
              </a:lnSpc>
              <a:spcAft>
                <a:spcPts val="800"/>
              </a:spcAft>
              <a:buSzPts val="1000"/>
              <a:tabLst>
                <a:tab pos="171450" algn="r"/>
                <a:tab pos="457200" algn="l"/>
                <a:tab pos="628650" algn="r"/>
              </a:tabLst>
            </a:pPr>
            <a:r>
              <a:rPr lang="en-US" sz="2400" b="1" dirty="0">
                <a:solidFill>
                  <a:srgbClr val="FFC000"/>
                </a:solidFill>
                <a:latin typeface="Times New Roman" panose="02020603050405020304" pitchFamily="18" charset="0"/>
                <a:cs typeface="Times New Roman" panose="02020603050405020304" pitchFamily="18" charset="0"/>
              </a:rPr>
              <a:t>Problem Definition</a:t>
            </a:r>
            <a:endParaRPr lang="en-US" sz="3600" b="1" kern="100" dirty="0">
              <a:solidFill>
                <a:srgbClr val="FFC000"/>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3" name="Text 1">
            <a:extLst>
              <a:ext uri="{FF2B5EF4-FFF2-40B4-BE49-F238E27FC236}">
                <a16:creationId xmlns:a16="http://schemas.microsoft.com/office/drawing/2014/main" id="{FEF5BFB4-FD3A-45F6-9E44-1BB819F4A83A}"/>
              </a:ext>
            </a:extLst>
          </p:cNvPr>
          <p:cNvSpPr/>
          <p:nvPr/>
        </p:nvSpPr>
        <p:spPr>
          <a:xfrm>
            <a:off x="240632" y="806200"/>
            <a:ext cx="14149136" cy="4906231"/>
          </a:xfrm>
          <a:prstGeom prst="rect">
            <a:avLst/>
          </a:prstGeom>
          <a:noFill/>
          <a:ln/>
        </p:spPr>
        <p:txBody>
          <a:bodyPr wrap="square" lIns="0" tIns="0" rIns="0" bIns="0" rtlCol="0" anchor="t"/>
          <a:lstStyle/>
          <a:p>
            <a:pPr>
              <a:lnSpc>
                <a:spcPct val="150000"/>
              </a:lnSpc>
            </a:pPr>
            <a:r>
              <a:rPr lang="en-US" dirty="0">
                <a:solidFill>
                  <a:schemeClr val="bg1"/>
                </a:solidFill>
                <a:latin typeface="Times New Roman" panose="02020603050405020304" pitchFamily="18" charset="0"/>
                <a:cs typeface="Times New Roman" panose="02020603050405020304" pitchFamily="18" charset="0"/>
              </a:rPr>
              <a:t>The subject of the paper is a powerful technique for discovering hidden topics and semantic patterns in a collection of text documents without requiring prior knowledge. Classical methods such as LDA, NMF, and LSA are based on the Bag-of-Words model, which ignores contextual meanings and relationships between words and merely counts word occurrences in the text without any understanding of the actual meaning of words within sentence context. This leads to two main issues:</a:t>
            </a:r>
          </a:p>
          <a:p>
            <a:pPr marL="285750"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Lack of understanding of word meanings in sentences</a:t>
            </a:r>
          </a:p>
          <a:p>
            <a:pPr marL="285750"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Generation of low-quality and incoherent topics</a:t>
            </a:r>
          </a:p>
          <a:p>
            <a:pPr>
              <a:lnSpc>
                <a:spcPct val="150000"/>
              </a:lnSpc>
            </a:pPr>
            <a:endParaRPr lang="en-US"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US" dirty="0">
                <a:solidFill>
                  <a:schemeClr val="bg1"/>
                </a:solidFill>
                <a:latin typeface="Times New Roman" panose="02020603050405020304" pitchFamily="18" charset="0"/>
                <a:cs typeface="Times New Roman" panose="02020603050405020304" pitchFamily="18" charset="0"/>
              </a:rPr>
              <a:t>New language models such as Transformers understand complex semantic relationships, but many topic modeling techniques do not utilize this capability, resulting in the extraction of inconsistent, inaccurate, and meaningless topics.</a:t>
            </a:r>
          </a:p>
          <a:p>
            <a:pPr>
              <a:lnSpc>
                <a:spcPct val="150000"/>
              </a:lnSpc>
            </a:pPr>
            <a:endParaRPr lang="en-US"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US" dirty="0">
                <a:solidFill>
                  <a:srgbClr val="FFC000"/>
                </a:solidFill>
                <a:latin typeface="Times New Roman" panose="02020603050405020304" pitchFamily="18" charset="0"/>
                <a:cs typeface="Times New Roman" panose="02020603050405020304" pitchFamily="18" charset="0"/>
              </a:rPr>
              <a:t>Thus, the main problem addressed in the paper is:</a:t>
            </a:r>
            <a:br>
              <a:rPr lang="en-US" dirty="0">
                <a:solidFill>
                  <a:srgbClr val="FFC000"/>
                </a:solidFill>
                <a:latin typeface="Times New Roman" panose="02020603050405020304" pitchFamily="18" charset="0"/>
                <a:cs typeface="Times New Roman" panose="02020603050405020304" pitchFamily="18" charset="0"/>
              </a:rPr>
            </a:br>
            <a:r>
              <a:rPr lang="en-US" b="1" dirty="0">
                <a:solidFill>
                  <a:srgbClr val="FFC000"/>
                </a:solidFill>
                <a:latin typeface="Times New Roman" panose="02020603050405020304" pitchFamily="18" charset="0"/>
                <a:cs typeface="Times New Roman" panose="02020603050405020304" pitchFamily="18" charset="0"/>
              </a:rPr>
              <a:t>How can topics be extracted based on meaning rather than just word frequency?</a:t>
            </a:r>
            <a:endParaRPr lang="en-US" dirty="0">
              <a:solidFill>
                <a:srgbClr val="FFC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30FFD51-0AD3-4143-BE94-C762EB538B1C}"/>
              </a:ext>
            </a:extLst>
          </p:cNvPr>
          <p:cNvPicPr>
            <a:picLocks noChangeAspect="1"/>
          </p:cNvPicPr>
          <p:nvPr/>
        </p:nvPicPr>
        <p:blipFill>
          <a:blip r:embed="rId2"/>
          <a:stretch>
            <a:fillRect/>
          </a:stretch>
        </p:blipFill>
        <p:spPr>
          <a:xfrm>
            <a:off x="10077450" y="4356101"/>
            <a:ext cx="4201258" cy="3873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66392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3DE7FE-FC2F-40B8-B3AF-FF5DE6B28CB2}"/>
              </a:ext>
            </a:extLst>
          </p:cNvPr>
          <p:cNvSpPr txBox="1"/>
          <p:nvPr/>
        </p:nvSpPr>
        <p:spPr>
          <a:xfrm>
            <a:off x="117231" y="224335"/>
            <a:ext cx="2882638" cy="417871"/>
          </a:xfrm>
          <a:prstGeom prst="rect">
            <a:avLst/>
          </a:prstGeom>
          <a:noFill/>
        </p:spPr>
        <p:txBody>
          <a:bodyPr wrap="square">
            <a:spAutoFit/>
          </a:bodyPr>
          <a:lstStyle/>
          <a:p>
            <a:pPr marR="0" lvl="0" algn="r" rtl="1">
              <a:lnSpc>
                <a:spcPct val="115000"/>
              </a:lnSpc>
              <a:spcAft>
                <a:spcPts val="800"/>
              </a:spcAft>
              <a:buSzPts val="1000"/>
              <a:tabLst>
                <a:tab pos="171450" algn="r"/>
                <a:tab pos="457200" algn="l"/>
                <a:tab pos="628650" algn="r"/>
              </a:tabLst>
            </a:pPr>
            <a:r>
              <a:rPr lang="en-US" sz="2000" b="1" dirty="0">
                <a:solidFill>
                  <a:srgbClr val="FFC000"/>
                </a:solidFill>
                <a:latin typeface="Times New Roman" panose="02020603050405020304" pitchFamily="18" charset="0"/>
                <a:cs typeface="Times New Roman" panose="02020603050405020304" pitchFamily="18" charset="0"/>
              </a:rPr>
              <a:t>Implementation Method</a:t>
            </a:r>
            <a:endParaRPr lang="en-US" sz="4000" b="1" kern="100" dirty="0">
              <a:solidFill>
                <a:srgbClr val="FFC000"/>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3" name="Text 1">
            <a:extLst>
              <a:ext uri="{FF2B5EF4-FFF2-40B4-BE49-F238E27FC236}">
                <a16:creationId xmlns:a16="http://schemas.microsoft.com/office/drawing/2014/main" id="{FEF5BFB4-FD3A-45F6-9E44-1BB819F4A83A}"/>
              </a:ext>
            </a:extLst>
          </p:cNvPr>
          <p:cNvSpPr/>
          <p:nvPr/>
        </p:nvSpPr>
        <p:spPr>
          <a:xfrm>
            <a:off x="281971" y="650260"/>
            <a:ext cx="14149136" cy="7490440"/>
          </a:xfrm>
          <a:prstGeom prst="rect">
            <a:avLst/>
          </a:prstGeom>
          <a:noFill/>
          <a:ln/>
        </p:spPr>
        <p:txBody>
          <a:bodyPr wrap="square" lIns="0" tIns="0" rIns="0" bIns="0" rtlCol="0" anchor="t"/>
          <a:lstStyle/>
          <a:p>
            <a:pPr marL="285750" indent="-285750">
              <a:lnSpc>
                <a:spcPct val="150000"/>
              </a:lnSpc>
              <a:buFont typeface="Wingdings" panose="05000000000000000000" pitchFamily="2" charset="2"/>
              <a:buChar char="q"/>
            </a:pPr>
            <a:r>
              <a:rPr lang="en-US" b="1" dirty="0">
                <a:solidFill>
                  <a:schemeClr val="bg1"/>
                </a:solidFill>
                <a:latin typeface="Times New Roman" panose="02020603050405020304" pitchFamily="18" charset="0"/>
                <a:cs typeface="Times New Roman" panose="02020603050405020304" pitchFamily="18" charset="0"/>
              </a:rPr>
              <a:t> Document Embedding</a:t>
            </a:r>
            <a:endParaRPr lang="fa-IR" b="1"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US" b="1" dirty="0">
                <a:solidFill>
                  <a:schemeClr val="bg1"/>
                </a:solidFill>
                <a:latin typeface="Times New Roman" panose="02020603050405020304" pitchFamily="18" charset="0"/>
                <a:cs typeface="Times New Roman" panose="02020603050405020304" pitchFamily="18" charset="0"/>
              </a:rPr>
              <a:t>Method Used: </a:t>
            </a:r>
            <a:r>
              <a:rPr lang="en-US" dirty="0">
                <a:solidFill>
                  <a:schemeClr val="bg1"/>
                </a:solidFill>
                <a:latin typeface="Times New Roman" panose="02020603050405020304" pitchFamily="18" charset="0"/>
                <a:cs typeface="Times New Roman" panose="02020603050405020304" pitchFamily="18" charset="0"/>
              </a:rPr>
              <a:t>Sentence-BERT (SBERT)</a:t>
            </a:r>
          </a:p>
          <a:p>
            <a:pPr>
              <a:lnSpc>
                <a:spcPct val="150000"/>
              </a:lnSpc>
            </a:pPr>
            <a:r>
              <a:rPr lang="en-US" b="1" dirty="0">
                <a:solidFill>
                  <a:schemeClr val="bg1"/>
                </a:solidFill>
                <a:latin typeface="Times New Roman" panose="02020603050405020304" pitchFamily="18" charset="0"/>
                <a:cs typeface="Times New Roman" panose="02020603050405020304" pitchFamily="18" charset="0"/>
              </a:rPr>
              <a:t>Process: </a:t>
            </a:r>
            <a:r>
              <a:rPr lang="en-US" dirty="0">
                <a:solidFill>
                  <a:schemeClr val="bg1"/>
                </a:solidFill>
                <a:latin typeface="Times New Roman" panose="02020603050405020304" pitchFamily="18" charset="0"/>
                <a:cs typeface="Times New Roman" panose="02020603050405020304" pitchFamily="18" charset="0"/>
              </a:rPr>
              <a:t>Text documents are converted into meaningful numerical vectors (embeddings).</a:t>
            </a:r>
          </a:p>
          <a:p>
            <a:pPr>
              <a:lnSpc>
                <a:spcPct val="150000"/>
              </a:lnSpc>
            </a:pPr>
            <a:r>
              <a:rPr lang="en-US" b="1" dirty="0">
                <a:solidFill>
                  <a:schemeClr val="bg1"/>
                </a:solidFill>
                <a:latin typeface="Times New Roman" panose="02020603050405020304" pitchFamily="18" charset="0"/>
                <a:cs typeface="Times New Roman" panose="02020603050405020304" pitchFamily="18" charset="0"/>
              </a:rPr>
              <a:t>Details:</a:t>
            </a:r>
            <a:r>
              <a:rPr lang="en-US" dirty="0">
                <a:solidFill>
                  <a:schemeClr val="bg1"/>
                </a:solidFill>
                <a:latin typeface="Times New Roman" panose="02020603050405020304" pitchFamily="18" charset="0"/>
                <a:cs typeface="Times New Roman" panose="02020603050405020304" pitchFamily="18" charset="0"/>
              </a:rPr>
              <a:t> Each sentence receives a fixed-length vector representation using pre-trained transformer models.</a:t>
            </a:r>
            <a:endParaRPr lang="fa-IR" dirty="0">
              <a:solidFill>
                <a:schemeClr val="bg1"/>
              </a:solidFill>
              <a:latin typeface="Times New Roman" panose="02020603050405020304" pitchFamily="18" charset="0"/>
              <a:cs typeface="Times New Roman" panose="02020603050405020304" pitchFamily="18" charset="0"/>
            </a:endParaRPr>
          </a:p>
          <a:p>
            <a:pPr>
              <a:lnSpc>
                <a:spcPct val="150000"/>
              </a:lnSpc>
            </a:pPr>
            <a:endParaRPr lang="fa-IR"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q"/>
            </a:pPr>
            <a:r>
              <a:rPr lang="en-US" b="1" dirty="0">
                <a:solidFill>
                  <a:schemeClr val="bg1"/>
                </a:solidFill>
                <a:latin typeface="Times New Roman" panose="02020603050405020304" pitchFamily="18" charset="0"/>
                <a:cs typeface="Times New Roman" panose="02020603050405020304" pitchFamily="18" charset="0"/>
              </a:rPr>
              <a:t> Dimensionality Reduction</a:t>
            </a:r>
            <a:endParaRPr lang="fa-IR" b="1"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US" b="1" dirty="0">
                <a:solidFill>
                  <a:schemeClr val="bg1"/>
                </a:solidFill>
                <a:latin typeface="Times New Roman" panose="02020603050405020304" pitchFamily="18" charset="0"/>
                <a:cs typeface="Times New Roman" panose="02020603050405020304" pitchFamily="18" charset="0"/>
              </a:rPr>
              <a:t>Why Needed?</a:t>
            </a:r>
            <a:r>
              <a:rPr lang="en-US" dirty="0">
                <a:solidFill>
                  <a:schemeClr val="bg1"/>
                </a:solidFill>
                <a:latin typeface="Times New Roman" panose="02020603050405020304" pitchFamily="18" charset="0"/>
                <a:cs typeface="Times New Roman" panose="02020603050405020304" pitchFamily="18" charset="0"/>
              </a:rPr>
              <a:t> High-dimensional vectors make clustering difficult (curse of dimensionality).</a:t>
            </a:r>
          </a:p>
          <a:p>
            <a:pPr>
              <a:lnSpc>
                <a:spcPct val="150000"/>
              </a:lnSpc>
            </a:pPr>
            <a:r>
              <a:rPr lang="en-US" b="1" dirty="0">
                <a:solidFill>
                  <a:schemeClr val="bg1"/>
                </a:solidFill>
                <a:latin typeface="Times New Roman" panose="02020603050405020304" pitchFamily="18" charset="0"/>
                <a:cs typeface="Times New Roman" panose="02020603050405020304" pitchFamily="18" charset="0"/>
              </a:rPr>
              <a:t>Method Used:</a:t>
            </a:r>
            <a:r>
              <a:rPr lang="en-US" dirty="0">
                <a:solidFill>
                  <a:schemeClr val="bg1"/>
                </a:solidFill>
                <a:latin typeface="Times New Roman" panose="02020603050405020304" pitchFamily="18" charset="0"/>
                <a:cs typeface="Times New Roman" panose="02020603050405020304" pitchFamily="18" charset="0"/>
              </a:rPr>
              <a:t> UMAP (Uniform Manifold Approximation and Projection)</a:t>
            </a:r>
          </a:p>
          <a:p>
            <a:pPr>
              <a:lnSpc>
                <a:spcPct val="150000"/>
              </a:lnSpc>
            </a:pPr>
            <a:r>
              <a:rPr lang="en-US" b="1" dirty="0">
                <a:solidFill>
                  <a:schemeClr val="bg1"/>
                </a:solidFill>
                <a:latin typeface="Times New Roman" panose="02020603050405020304" pitchFamily="18" charset="0"/>
                <a:cs typeface="Times New Roman" panose="02020603050405020304" pitchFamily="18" charset="0"/>
              </a:rPr>
              <a:t>Details:</a:t>
            </a:r>
            <a:r>
              <a:rPr lang="en-US" dirty="0">
                <a:solidFill>
                  <a:schemeClr val="bg1"/>
                </a:solidFill>
                <a:latin typeface="Times New Roman" panose="02020603050405020304" pitchFamily="18" charset="0"/>
                <a:cs typeface="Times New Roman" panose="02020603050405020304" pitchFamily="18" charset="0"/>
              </a:rPr>
              <a:t> UMAP parameters (number of neighbors, minimum distance) are tuned to preserve both global and local data structures.</a:t>
            </a:r>
            <a:endParaRPr lang="fa-IR" dirty="0">
              <a:solidFill>
                <a:schemeClr val="bg1"/>
              </a:solidFill>
              <a:latin typeface="Times New Roman" panose="02020603050405020304" pitchFamily="18" charset="0"/>
              <a:cs typeface="Times New Roman" panose="02020603050405020304" pitchFamily="18" charset="0"/>
            </a:endParaRPr>
          </a:p>
          <a:p>
            <a:pPr>
              <a:lnSpc>
                <a:spcPct val="150000"/>
              </a:lnSpc>
            </a:pPr>
            <a:endParaRPr lang="fa-IR"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q"/>
            </a:pPr>
            <a:r>
              <a:rPr lang="en-US" b="1" dirty="0">
                <a:solidFill>
                  <a:schemeClr val="bg1"/>
                </a:solidFill>
                <a:latin typeface="Times New Roman" panose="02020603050405020304" pitchFamily="18" charset="0"/>
                <a:cs typeface="Times New Roman" panose="02020603050405020304" pitchFamily="18" charset="0"/>
              </a:rPr>
              <a:t>Document Clustering</a:t>
            </a:r>
            <a:endParaRPr lang="en-US"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US" b="1" dirty="0">
                <a:solidFill>
                  <a:schemeClr val="bg1"/>
                </a:solidFill>
                <a:latin typeface="Times New Roman" panose="02020603050405020304" pitchFamily="18" charset="0"/>
                <a:cs typeface="Times New Roman" panose="02020603050405020304" pitchFamily="18" charset="0"/>
              </a:rPr>
              <a:t>Algorithm Used:</a:t>
            </a:r>
            <a:r>
              <a:rPr lang="en-US" dirty="0">
                <a:solidFill>
                  <a:schemeClr val="bg1"/>
                </a:solidFill>
                <a:latin typeface="Times New Roman" panose="02020603050405020304" pitchFamily="18" charset="0"/>
                <a:cs typeface="Times New Roman" panose="02020603050405020304" pitchFamily="18" charset="0"/>
              </a:rPr>
              <a:t> HDBSCAN (Hierarchical Density-Based Spatial Clustering)</a:t>
            </a:r>
          </a:p>
          <a:p>
            <a:pPr>
              <a:lnSpc>
                <a:spcPct val="150000"/>
              </a:lnSpc>
            </a:pPr>
            <a:r>
              <a:rPr lang="en-US" b="1" dirty="0">
                <a:solidFill>
                  <a:schemeClr val="bg1"/>
                </a:solidFill>
                <a:latin typeface="Times New Roman" panose="02020603050405020304" pitchFamily="18" charset="0"/>
                <a:cs typeface="Times New Roman" panose="02020603050405020304" pitchFamily="18" charset="0"/>
              </a:rPr>
              <a:t>Why HDBSCAN?</a:t>
            </a:r>
          </a:p>
          <a:p>
            <a:pPr marL="742950" lvl="1"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Finds clusters of varying densities</a:t>
            </a:r>
          </a:p>
          <a:p>
            <a:pPr marL="742950" lvl="1"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Robust to noise</a:t>
            </a:r>
          </a:p>
          <a:p>
            <a:pPr marL="742950" lvl="1"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Identifies outliers automatically</a:t>
            </a:r>
          </a:p>
          <a:p>
            <a:pPr marL="742950" lvl="1"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No need to predefine the number of clusters</a:t>
            </a:r>
          </a:p>
          <a:p>
            <a:pPr>
              <a:lnSpc>
                <a:spcPct val="150000"/>
              </a:lnSpc>
            </a:pPr>
            <a:r>
              <a:rPr lang="en-US" b="1" dirty="0">
                <a:solidFill>
                  <a:schemeClr val="bg1"/>
                </a:solidFill>
                <a:latin typeface="Times New Roman" panose="02020603050405020304" pitchFamily="18" charset="0"/>
                <a:cs typeface="Times New Roman" panose="02020603050405020304" pitchFamily="18" charset="0"/>
              </a:rPr>
              <a:t>Clustering Basis:</a:t>
            </a:r>
            <a:r>
              <a:rPr lang="en-US" dirty="0">
                <a:solidFill>
                  <a:schemeClr val="bg1"/>
                </a:solidFill>
                <a:latin typeface="Times New Roman" panose="02020603050405020304" pitchFamily="18" charset="0"/>
                <a:cs typeface="Times New Roman" panose="02020603050405020304" pitchFamily="18" charset="0"/>
              </a:rPr>
              <a:t> Semantic similarity of reduced document embeddings.</a:t>
            </a:r>
          </a:p>
          <a:p>
            <a:pPr>
              <a:lnSpc>
                <a:spcPct val="150000"/>
              </a:lnSpc>
            </a:pPr>
            <a:endParaRPr lang="fa-IR" b="1" dirty="0">
              <a:solidFill>
                <a:schemeClr val="bg1"/>
              </a:solidFill>
              <a:latin typeface="Times New Roman" panose="02020603050405020304" pitchFamily="18" charset="0"/>
              <a:cs typeface="Times New Roman" panose="02020603050405020304" pitchFamily="18" charset="0"/>
            </a:endParaRPr>
          </a:p>
          <a:p>
            <a:endParaRPr lang="fa-IR" dirty="0">
              <a:solidFill>
                <a:schemeClr val="bg1"/>
              </a:solidFill>
              <a:latin typeface="Times New Roman" panose="02020603050405020304" pitchFamily="18" charset="0"/>
              <a:cs typeface="Times New Roman" panose="02020603050405020304" pitchFamily="18" charset="0"/>
            </a:endParaRPr>
          </a:p>
          <a:p>
            <a:endParaRPr lang="fa-IR" dirty="0">
              <a:solidFill>
                <a:schemeClr val="bg1"/>
              </a:solidFill>
              <a:latin typeface="Times New Roman" panose="02020603050405020304" pitchFamily="18" charset="0"/>
              <a:cs typeface="Times New Roman" panose="02020603050405020304" pitchFamily="18" charset="0"/>
            </a:endParaRPr>
          </a:p>
          <a:p>
            <a:endParaRPr lang="en-US" dirty="0">
              <a:solidFill>
                <a:schemeClr val="bg1"/>
              </a:solidFill>
              <a:latin typeface="Times New Roman" panose="02020603050405020304" pitchFamily="18" charset="0"/>
              <a:cs typeface="Times New Roman" panose="02020603050405020304" pitchFamily="18" charset="0"/>
            </a:endParaRPr>
          </a:p>
          <a:p>
            <a:pPr>
              <a:lnSpc>
                <a:spcPct val="150000"/>
              </a:lnSpc>
            </a:pPr>
            <a:endParaRPr lang="en-US" dirty="0">
              <a:solidFill>
                <a:schemeClr val="bg1"/>
              </a:solidFill>
              <a:latin typeface="Times New Roman" panose="02020603050405020304" pitchFamily="18" charset="0"/>
              <a:cs typeface="Times New Roman" panose="02020603050405020304" pitchFamily="18" charset="0"/>
            </a:endParaRPr>
          </a:p>
        </p:txBody>
      </p:sp>
      <p:sp>
        <p:nvSpPr>
          <p:cNvPr id="9" name="Rectangle 5">
            <a:extLst>
              <a:ext uri="{FF2B5EF4-FFF2-40B4-BE49-F238E27FC236}">
                <a16:creationId xmlns:a16="http://schemas.microsoft.com/office/drawing/2014/main" id="{B510F9B7-17C4-4246-A17C-8C6DC910D3FC}"/>
              </a:ext>
            </a:extLst>
          </p:cNvPr>
          <p:cNvSpPr>
            <a:spLocks noChangeArrowheads="1"/>
          </p:cNvSpPr>
          <p:nvPr/>
        </p:nvSpPr>
        <p:spPr bwMode="auto">
          <a:xfrm>
            <a:off x="0" y="0"/>
            <a:ext cx="14630400" cy="0"/>
          </a:xfrm>
          <a:prstGeom prst="rect">
            <a:avLst/>
          </a:prstGeom>
          <a:solidFill>
            <a:srgbClr val="EBEE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2199" rIns="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a:ln>
                  <a:noFill/>
                </a:ln>
                <a:solidFill>
                  <a:srgbClr val="0F1115"/>
                </a:solidFill>
                <a:effectLst/>
                <a:latin typeface="quote-cjk-patch"/>
              </a:rPr>
              <a:t>Models Used:</a:t>
            </a:r>
            <a:r>
              <a:rPr kumimoji="0" lang="en-US" altLang="en-US" sz="1200" b="0" i="0" u="none" strike="noStrike" cap="none" normalizeH="0" baseline="0">
                <a:ln>
                  <a:noFill/>
                </a:ln>
                <a:solidFill>
                  <a:srgbClr val="0F1115"/>
                </a:solidFill>
                <a:effectLst/>
                <a:latin typeface="quote-cjk-patch"/>
              </a:rPr>
              <a:t> </a:t>
            </a:r>
            <a:r>
              <a:rPr kumimoji="0" lang="en-US" altLang="en-US" b="0" i="0" u="none" strike="noStrike" cap="none" normalizeH="0" baseline="0">
                <a:ln>
                  <a:noFill/>
                </a:ln>
                <a:solidFill>
                  <a:srgbClr val="0F1115"/>
                </a:solidFill>
                <a:effectLst/>
                <a:latin typeface="Menlo"/>
              </a:rPr>
              <a:t>all-MiniLM-L6-v2</a:t>
            </a:r>
            <a:r>
              <a:rPr kumimoji="0" lang="en-US" altLang="en-US" sz="1200" b="0" i="0" u="none" strike="noStrike" cap="none" normalizeH="0" baseline="0">
                <a:ln>
                  <a:noFill/>
                </a:ln>
                <a:solidFill>
                  <a:srgbClr val="0F1115"/>
                </a:solidFill>
                <a:effectLst/>
                <a:latin typeface="quote-cjk-patch"/>
              </a:rPr>
              <a:t> and </a:t>
            </a:r>
            <a:r>
              <a:rPr kumimoji="0" lang="en-US" altLang="en-US" b="0" i="0" u="none" strike="noStrike" cap="none" normalizeH="0" baseline="0">
                <a:ln>
                  <a:noFill/>
                </a:ln>
                <a:solidFill>
                  <a:srgbClr val="0F1115"/>
                </a:solidFill>
                <a:effectLst/>
                <a:latin typeface="Menlo"/>
              </a:rPr>
              <a:t>all-mpnet-base-v2</a:t>
            </a:r>
            <a:endParaRPr kumimoji="0" lang="en-US" altLang="en-US" sz="1200" b="0" i="0" u="none" strike="noStrike" cap="none" normalizeH="0" baseline="0">
              <a:ln>
                <a:noFill/>
              </a:ln>
              <a:solidFill>
                <a:srgbClr val="0F1115"/>
              </a:solidFill>
              <a:effectLst/>
              <a:latin typeface="quote-cjk-patch"/>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8293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3DE7FE-FC2F-40B8-B3AF-FF5DE6B28CB2}"/>
              </a:ext>
            </a:extLst>
          </p:cNvPr>
          <p:cNvSpPr txBox="1"/>
          <p:nvPr/>
        </p:nvSpPr>
        <p:spPr>
          <a:xfrm>
            <a:off x="3835400" y="136905"/>
            <a:ext cx="4866769" cy="483017"/>
          </a:xfrm>
          <a:prstGeom prst="rect">
            <a:avLst/>
          </a:prstGeom>
          <a:noFill/>
        </p:spPr>
        <p:txBody>
          <a:bodyPr wrap="square">
            <a:spAutoFit/>
          </a:bodyPr>
          <a:lstStyle/>
          <a:p>
            <a:pPr marR="0" lvl="0" algn="r" rtl="1">
              <a:lnSpc>
                <a:spcPct val="115000"/>
              </a:lnSpc>
              <a:spcAft>
                <a:spcPts val="800"/>
              </a:spcAft>
              <a:buSzPts val="1000"/>
              <a:tabLst>
                <a:tab pos="171450" algn="r"/>
                <a:tab pos="457200" algn="l"/>
                <a:tab pos="628650" algn="r"/>
              </a:tabLst>
            </a:pPr>
            <a:r>
              <a:rPr lang="en-US" sz="2400" b="1" dirty="0">
                <a:solidFill>
                  <a:srgbClr val="FFC000"/>
                </a:solidFill>
                <a:latin typeface="Times New Roman" panose="02020603050405020304" pitchFamily="18" charset="0"/>
                <a:cs typeface="Times New Roman" panose="02020603050405020304" pitchFamily="18" charset="0"/>
              </a:rPr>
              <a:t>Implementation Method</a:t>
            </a:r>
            <a:endParaRPr lang="en-US" sz="4400" b="1" kern="100" dirty="0">
              <a:solidFill>
                <a:srgbClr val="FFC000"/>
              </a:solidFill>
              <a:effectLst/>
              <a:latin typeface="Times New Roman" panose="02020603050405020304" pitchFamily="18" charset="0"/>
              <a:ea typeface="Aptos" panose="020B000402020202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Text 1">
                <a:extLst>
                  <a:ext uri="{FF2B5EF4-FFF2-40B4-BE49-F238E27FC236}">
                    <a16:creationId xmlns:a16="http://schemas.microsoft.com/office/drawing/2014/main" id="{FEF5BFB4-FD3A-45F6-9E44-1BB819F4A83A}"/>
                  </a:ext>
                </a:extLst>
              </p:cNvPr>
              <p:cNvSpPr/>
              <p:nvPr/>
            </p:nvSpPr>
            <p:spPr>
              <a:xfrm>
                <a:off x="214564" y="320060"/>
                <a:ext cx="14149136" cy="7579340"/>
              </a:xfrm>
              <a:prstGeom prst="rect">
                <a:avLst/>
              </a:prstGeom>
              <a:noFill/>
              <a:ln/>
            </p:spPr>
            <p:txBody>
              <a:bodyPr wrap="square" lIns="0" tIns="0" rIns="0" bIns="0" rtlCol="0" anchor="t"/>
              <a:lstStyle/>
              <a:p>
                <a:pPr marL="285750" indent="-285750">
                  <a:lnSpc>
                    <a:spcPct val="150000"/>
                  </a:lnSpc>
                  <a:buFont typeface="Wingdings" panose="05000000000000000000" pitchFamily="2" charset="2"/>
                  <a:buChar char="q"/>
                </a:pPr>
                <a:r>
                  <a:rPr lang="en-US" b="1" dirty="0">
                    <a:solidFill>
                      <a:schemeClr val="bg1"/>
                    </a:solidFill>
                    <a:latin typeface="Times New Roman" panose="02020603050405020304" pitchFamily="18" charset="0"/>
                    <a:cs typeface="Times New Roman" panose="02020603050405020304" pitchFamily="18" charset="0"/>
                  </a:rPr>
                  <a:t>Topic Extraction</a:t>
                </a:r>
                <a:endParaRPr lang="fa-IR" b="1"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      Process for Each Cluster:</a:t>
                </a:r>
              </a:p>
              <a:p>
                <a:pPr marL="742950" lvl="1" indent="-285750">
                  <a:lnSpc>
                    <a:spcPct val="20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Vocabulary Construction: Words from each sentence are extracted and mapped to their embedding vectors.</a:t>
                </a:r>
              </a:p>
              <a:p>
                <a:pPr marL="742950" lvl="1" indent="-285750">
                  <a:lnSpc>
                    <a:spcPct val="20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Irrelevant Word Removal: Words without semantic contribution to sentences are eliminated.</a:t>
                </a:r>
              </a:p>
              <a:p>
                <a:pPr marL="742950" lvl="1" indent="-285750">
                  <a:lnSpc>
                    <a:spcPct val="20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Average Similarity Calculation: For each word, the average cosine similarity with all sentences in the cluster is computed </a:t>
                </a:r>
                <a:r>
                  <a:rPr lang="fa-IR" dirty="0">
                    <a:solidFill>
                      <a:schemeClr val="bg1"/>
                    </a:solidFill>
                    <a:latin typeface="Times New Roman" panose="02020603050405020304" pitchFamily="18" charset="0"/>
                    <a:cs typeface="Times New Roman" panose="02020603050405020304" pitchFamily="18" charset="0"/>
                  </a:rPr>
                  <a:t>.</a:t>
                </a:r>
                <a:endParaRPr lang="en-US" dirty="0">
                  <a:solidFill>
                    <a:schemeClr val="bg1"/>
                  </a:solidFill>
                  <a:latin typeface="Times New Roman" panose="02020603050405020304" pitchFamily="18" charset="0"/>
                  <a:cs typeface="Times New Roman" panose="02020603050405020304" pitchFamily="18" charset="0"/>
                </a:endParaRPr>
              </a:p>
              <a:p>
                <a:pPr lvl="1">
                  <a:lnSpc>
                    <a:spcPct val="200000"/>
                  </a:lnSpc>
                </a:pPr>
                <a14:m>
                  <m:oMathPara xmlns:m="http://schemas.openxmlformats.org/officeDocument/2006/math">
                    <m:oMathParaPr>
                      <m:jc m:val="centerGroup"/>
                    </m:oMathParaPr>
                    <m:oMath xmlns:m="http://schemas.openxmlformats.org/officeDocument/2006/math">
                      <m:r>
                        <m:rPr>
                          <m:nor/>
                        </m:rPr>
                        <a:rPr lang="en-US">
                          <a:solidFill>
                            <a:schemeClr val="bg1"/>
                          </a:solidFill>
                          <a:latin typeface="Cambria Math" panose="02040503050406030204" pitchFamily="18" charset="0"/>
                        </a:rPr>
                        <m:t>a</m:t>
                      </m:r>
                      <m:r>
                        <m:rPr>
                          <m:nor/>
                        </m:rPr>
                        <a:rPr lang="en-US">
                          <a:solidFill>
                            <a:schemeClr val="bg1"/>
                          </a:solidFill>
                        </a:rPr>
                        <m:t>vg</m:t>
                      </m:r>
                      <m:r>
                        <m:rPr>
                          <m:nor/>
                        </m:rPr>
                        <a:rPr lang="en-US" smtClean="0">
                          <a:solidFill>
                            <a:schemeClr val="bg1"/>
                          </a:solidFill>
                        </a:rPr>
                        <m:t>_</m:t>
                      </m:r>
                      <m:r>
                        <m:rPr>
                          <m:nor/>
                        </m:rPr>
                        <a:rPr lang="en-US" smtClean="0">
                          <a:solidFill>
                            <a:schemeClr val="bg1"/>
                          </a:solidFill>
                        </a:rPr>
                        <m:t>sim</m:t>
                      </m:r>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r>
                            <a:rPr lang="en-US" i="1">
                              <a:solidFill>
                                <a:schemeClr val="bg1"/>
                              </a:solidFill>
                              <a:latin typeface="Cambria Math" panose="02040503050406030204" pitchFamily="18" charset="0"/>
                            </a:rPr>
                            <m:t>)=</m:t>
                          </m:r>
                        </m:sub>
                      </m:sSub>
                      <m:f>
                        <m:fPr>
                          <m:ctrlPr>
                            <a:rPr lang="en-US" i="1">
                              <a:solidFill>
                                <a:schemeClr val="bg1"/>
                              </a:solidFill>
                              <a:latin typeface="Cambria Math" panose="02040503050406030204" pitchFamily="18" charset="0"/>
                            </a:rPr>
                          </m:ctrlPr>
                        </m:fPr>
                        <m:num>
                          <m:r>
                            <a:rPr lang="en-US" i="1">
                              <a:solidFill>
                                <a:schemeClr val="bg1"/>
                              </a:solidFill>
                              <a:latin typeface="Cambria Math" panose="02040503050406030204" pitchFamily="18" charset="0"/>
                            </a:rPr>
                            <m:t>1</m:t>
                          </m:r>
                        </m:num>
                        <m:den>
                          <m:r>
                            <a:rPr lang="en-US" i="1">
                              <a:solidFill>
                                <a:schemeClr val="bg1"/>
                              </a:solidFill>
                              <a:latin typeface="Cambria Math" panose="02040503050406030204" pitchFamily="18" charset="0"/>
                            </a:rPr>
                            <m:t>𝑁</m:t>
                          </m:r>
                        </m:den>
                      </m:f>
                      <m:nary>
                        <m:naryPr>
                          <m:chr m:val="∑"/>
                          <m:limLoc m:val="undOvr"/>
                          <m:grow m:val="on"/>
                          <m:ctrlPr>
                            <a:rPr lang="en-US" i="1">
                              <a:solidFill>
                                <a:schemeClr val="bg1"/>
                              </a:solidFill>
                              <a:latin typeface="Cambria Math" panose="02040503050406030204" pitchFamily="18" charset="0"/>
                            </a:rPr>
                          </m:ctrlPr>
                        </m:naryPr>
                        <m:sub>
                          <m:r>
                            <a:rPr lang="en-US" i="1">
                              <a:solidFill>
                                <a:schemeClr val="bg1"/>
                              </a:solidFill>
                              <a:latin typeface="Cambria Math" panose="02040503050406030204" pitchFamily="18" charset="0"/>
                            </a:rPr>
                            <m:t>𝑗</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1</m:t>
                          </m:r>
                        </m:sub>
                        <m:sup>
                          <m:r>
                            <a:rPr lang="en-US" i="1">
                              <a:solidFill>
                                <a:schemeClr val="bg1"/>
                              </a:solidFill>
                              <a:latin typeface="Cambria Math" panose="02040503050406030204" pitchFamily="18" charset="0"/>
                            </a:rPr>
                            <m:t>𝑁</m:t>
                          </m:r>
                        </m:sup>
                        <m:e>
                          <m:r>
                            <m:rPr>
                              <m:nor/>
                            </m:rPr>
                            <a:rPr lang="en-US">
                              <a:solidFill>
                                <a:schemeClr val="bg1"/>
                              </a:solidFill>
                            </a:rPr>
                            <m:t>cosine</m:t>
                          </m:r>
                          <m:r>
                            <a:rPr lang="en-US" i="1">
                              <a:solidFill>
                                <a:schemeClr val="bg1"/>
                              </a:solidFill>
                              <a:latin typeface="Cambria Math" panose="02040503050406030204" pitchFamily="18" charset="0"/>
                            </a:rPr>
                            <m:t>(</m:t>
                          </m:r>
                        </m:e>
                      </m:nary>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𝑠</m:t>
                          </m:r>
                        </m:e>
                        <m:sub>
                          <m:r>
                            <a:rPr lang="en-US" i="1">
                              <a:solidFill>
                                <a:schemeClr val="bg1"/>
                              </a:solidFill>
                              <a:latin typeface="Cambria Math" panose="02040503050406030204" pitchFamily="18" charset="0"/>
                            </a:rPr>
                            <m:t>𝑗</m:t>
                          </m:r>
                        </m:sub>
                      </m:sSub>
                      <m:r>
                        <a:rPr lang="en-US" i="1">
                          <a:solidFill>
                            <a:schemeClr val="bg1"/>
                          </a:solidFill>
                          <a:latin typeface="Cambria Math" panose="02040503050406030204" pitchFamily="18" charset="0"/>
                        </a:rPr>
                        <m:t>)</m:t>
                      </m:r>
                    </m:oMath>
                  </m:oMathPara>
                </a14:m>
                <a:endParaRPr lang="fa-IR" dirty="0">
                  <a:solidFill>
                    <a:schemeClr val="bg1"/>
                  </a:solidFill>
                  <a:latin typeface="Times New Roman" panose="02020603050405020304" pitchFamily="18" charset="0"/>
                  <a:cs typeface="Times New Roman" panose="02020603050405020304" pitchFamily="18" charset="0"/>
                </a:endParaRPr>
              </a:p>
              <a:p>
                <a:pPr marL="742950" lvl="1" indent="-285750">
                  <a:lnSpc>
                    <a:spcPct val="20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Top Word Selection: The *k* words with the highest similarity scores are selected as the cluster's topic.</a:t>
                </a:r>
              </a:p>
              <a:p>
                <a:pPr marL="742950" lvl="1" indent="-285750">
                  <a:lnSpc>
                    <a:spcPct val="20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Topic Merging: Topics with high similarity are merged to control the final number of topics.</a:t>
                </a:r>
              </a:p>
              <a:p>
                <a:pPr lvl="1">
                  <a:lnSpc>
                    <a:spcPct val="200000"/>
                  </a:lnSpc>
                </a:pPr>
                <a:endParaRPr lang="en-US"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q"/>
                </a:pPr>
                <a:r>
                  <a:rPr lang="en-US" b="1" dirty="0">
                    <a:solidFill>
                      <a:schemeClr val="bg1"/>
                    </a:solidFill>
                    <a:latin typeface="Times New Roman" panose="02020603050405020304" pitchFamily="18" charset="0"/>
                    <a:cs typeface="Times New Roman" panose="02020603050405020304" pitchFamily="18" charset="0"/>
                  </a:rPr>
                  <a:t>Topic Refinement and Evaluation</a:t>
                </a:r>
                <a:endParaRPr lang="en-US" dirty="0">
                  <a:solidFill>
                    <a:schemeClr val="bg1"/>
                  </a:solidFill>
                  <a:latin typeface="Times New Roman" panose="02020603050405020304" pitchFamily="18" charset="0"/>
                  <a:cs typeface="Times New Roman" panose="02020603050405020304" pitchFamily="18" charset="0"/>
                </a:endParaRPr>
              </a:p>
              <a:p>
                <a:pPr marL="742950" lvl="1" indent="-285750">
                  <a:lnSpc>
                    <a:spcPct val="20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Use metrics such as CV​, </a:t>
                </a:r>
                <a:r>
                  <a:rPr lang="en-US" dirty="0" err="1">
                    <a:solidFill>
                      <a:schemeClr val="bg1"/>
                    </a:solidFill>
                    <a:latin typeface="Times New Roman" panose="02020603050405020304" pitchFamily="18" charset="0"/>
                    <a:cs typeface="Times New Roman" panose="02020603050405020304" pitchFamily="18" charset="0"/>
                  </a:rPr>
                  <a:t>Cnpmi</a:t>
                </a:r>
                <a:r>
                  <a:rPr lang="en-US" dirty="0">
                    <a:solidFill>
                      <a:schemeClr val="bg1"/>
                    </a:solidFill>
                    <a:latin typeface="Times New Roman" panose="02020603050405020304" pitchFamily="18" charset="0"/>
                    <a:cs typeface="Times New Roman" panose="02020603050405020304" pitchFamily="18" charset="0"/>
                  </a:rPr>
                  <a:t>​, UMass​, and </a:t>
                </a:r>
                <a:r>
                  <a:rPr lang="en-US" dirty="0" err="1">
                    <a:solidFill>
                      <a:schemeClr val="bg1"/>
                    </a:solidFill>
                    <a:latin typeface="Times New Roman" panose="02020603050405020304" pitchFamily="18" charset="0"/>
                    <a:cs typeface="Times New Roman" panose="02020603050405020304" pitchFamily="18" charset="0"/>
                  </a:rPr>
                  <a:t>Cuci</a:t>
                </a:r>
                <a:r>
                  <a:rPr lang="en-US" dirty="0">
                    <a:solidFill>
                      <a:schemeClr val="bg1"/>
                    </a:solidFill>
                    <a:latin typeface="Times New Roman" panose="02020603050405020304" pitchFamily="18" charset="0"/>
                    <a:cs typeface="Times New Roman" panose="02020603050405020304" pitchFamily="18" charset="0"/>
                  </a:rPr>
                  <a:t> to evaluate topic coherence.</a:t>
                </a:r>
              </a:p>
              <a:p>
                <a:pPr marL="742950" lvl="1" indent="-285750">
                  <a:lnSpc>
                    <a:spcPct val="20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Adjust hyperparameters (e.g., minimum cluster size in HDBSCAN, k in topic words) based on validation results.</a:t>
                </a:r>
              </a:p>
              <a:p>
                <a:pPr marL="742950" lvl="1" indent="-285750">
                  <a:lnSpc>
                    <a:spcPct val="20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Employ OCTIS toolkit for standardized comparison with baseline models (LDA, </a:t>
                </a:r>
                <a:r>
                  <a:rPr lang="en-US" dirty="0" err="1">
                    <a:solidFill>
                      <a:schemeClr val="bg1"/>
                    </a:solidFill>
                    <a:latin typeface="Times New Roman" panose="02020603050405020304" pitchFamily="18" charset="0"/>
                    <a:cs typeface="Times New Roman" panose="02020603050405020304" pitchFamily="18" charset="0"/>
                  </a:rPr>
                  <a:t>BERTopic</a:t>
                </a:r>
                <a:r>
                  <a:rPr lang="en-US" dirty="0">
                    <a:solidFill>
                      <a:schemeClr val="bg1"/>
                    </a:solidFill>
                    <a:latin typeface="Times New Roman" panose="02020603050405020304" pitchFamily="18" charset="0"/>
                    <a:cs typeface="Times New Roman" panose="02020603050405020304" pitchFamily="18" charset="0"/>
                  </a:rPr>
                  <a:t>, CTM, etc.).</a:t>
                </a:r>
              </a:p>
              <a:p>
                <a:pPr marL="742950" lvl="1" indent="-285750">
                  <a:lnSpc>
                    <a:spcPct val="200000"/>
                  </a:lnSpc>
                  <a:buFont typeface="Wingdings" panose="05000000000000000000" pitchFamily="2" charset="2"/>
                  <a:buChar char="§"/>
                </a:pPr>
                <a:endParaRPr lang="en-US" dirty="0">
                  <a:solidFill>
                    <a:schemeClr val="bg1"/>
                  </a:solidFill>
                  <a:latin typeface="Times New Roman" panose="02020603050405020304" pitchFamily="18" charset="0"/>
                  <a:cs typeface="Times New Roman" panose="02020603050405020304" pitchFamily="18" charset="0"/>
                </a:endParaRPr>
              </a:p>
              <a:p>
                <a:pPr>
                  <a:lnSpc>
                    <a:spcPct val="150000"/>
                  </a:lnSpc>
                </a:pPr>
                <a:endParaRPr lang="en-US" dirty="0">
                  <a:solidFill>
                    <a:schemeClr val="bg1"/>
                  </a:solidFill>
                  <a:latin typeface="Times New Roman" panose="02020603050405020304" pitchFamily="18" charset="0"/>
                  <a:cs typeface="Times New Roman" panose="02020603050405020304" pitchFamily="18" charset="0"/>
                </a:endParaRPr>
              </a:p>
            </p:txBody>
          </p:sp>
        </mc:Choice>
        <mc:Fallback>
          <p:sp>
            <p:nvSpPr>
              <p:cNvPr id="3" name="Text 1">
                <a:extLst>
                  <a:ext uri="{FF2B5EF4-FFF2-40B4-BE49-F238E27FC236}">
                    <a16:creationId xmlns:a16="http://schemas.microsoft.com/office/drawing/2014/main" id="{FEF5BFB4-FD3A-45F6-9E44-1BB819F4A83A}"/>
                  </a:ext>
                </a:extLst>
              </p:cNvPr>
              <p:cNvSpPr>
                <a:spLocks noRot="1" noChangeAspect="1" noMove="1" noResize="1" noEditPoints="1" noAdjustHandles="1" noChangeArrowheads="1" noChangeShapeType="1" noTextEdit="1"/>
              </p:cNvSpPr>
              <p:nvPr/>
            </p:nvSpPr>
            <p:spPr>
              <a:xfrm>
                <a:off x="214564" y="320060"/>
                <a:ext cx="14149136" cy="7579340"/>
              </a:xfrm>
              <a:prstGeom prst="rect">
                <a:avLst/>
              </a:prstGeom>
              <a:blipFill>
                <a:blip r:embed="rId2"/>
                <a:stretch>
                  <a:fillRect l="-905" b="-5229"/>
                </a:stretch>
              </a:blipFill>
              <a:ln/>
            </p:spPr>
            <p:txBody>
              <a:bodyPr/>
              <a:lstStyle/>
              <a:p>
                <a:r>
                  <a:rPr lang="en-US">
                    <a:noFill/>
                  </a:rPr>
                  <a:t> </a:t>
                </a:r>
              </a:p>
            </p:txBody>
          </p:sp>
        </mc:Fallback>
      </mc:AlternateContent>
    </p:spTree>
    <p:extLst>
      <p:ext uri="{BB962C8B-B14F-4D97-AF65-F5344CB8AC3E}">
        <p14:creationId xmlns:p14="http://schemas.microsoft.com/office/powerpoint/2010/main" val="3437986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3DE7FE-FC2F-40B8-B3AF-FF5DE6B28CB2}"/>
              </a:ext>
            </a:extLst>
          </p:cNvPr>
          <p:cNvSpPr txBox="1"/>
          <p:nvPr/>
        </p:nvSpPr>
        <p:spPr>
          <a:xfrm>
            <a:off x="214564" y="136905"/>
            <a:ext cx="4195005" cy="548099"/>
          </a:xfrm>
          <a:prstGeom prst="rect">
            <a:avLst/>
          </a:prstGeom>
          <a:noFill/>
        </p:spPr>
        <p:txBody>
          <a:bodyPr wrap="square">
            <a:spAutoFit/>
          </a:bodyPr>
          <a:lstStyle/>
          <a:p>
            <a:pPr algn="r" rtl="1">
              <a:lnSpc>
                <a:spcPct val="115000"/>
              </a:lnSpc>
              <a:spcAft>
                <a:spcPts val="800"/>
              </a:spcAft>
              <a:buSzPts val="1000"/>
              <a:tabLst>
                <a:tab pos="171450" algn="r"/>
                <a:tab pos="457200" algn="l"/>
                <a:tab pos="628650" algn="r"/>
              </a:tabLst>
            </a:pPr>
            <a:r>
              <a:rPr lang="en-US" sz="2800" b="1" dirty="0">
                <a:solidFill>
                  <a:srgbClr val="FFC000"/>
                </a:solidFill>
                <a:latin typeface="Times New Roman" panose="02020603050405020304" pitchFamily="18" charset="0"/>
                <a:cs typeface="Times New Roman" panose="02020603050405020304" pitchFamily="18" charset="0"/>
              </a:rPr>
              <a:t>Main Results of the Paper</a:t>
            </a:r>
          </a:p>
        </p:txBody>
      </p:sp>
      <p:sp>
        <p:nvSpPr>
          <p:cNvPr id="3" name="Text 1">
            <a:extLst>
              <a:ext uri="{FF2B5EF4-FFF2-40B4-BE49-F238E27FC236}">
                <a16:creationId xmlns:a16="http://schemas.microsoft.com/office/drawing/2014/main" id="{FEF5BFB4-FD3A-45F6-9E44-1BB819F4A83A}"/>
              </a:ext>
            </a:extLst>
          </p:cNvPr>
          <p:cNvSpPr/>
          <p:nvPr/>
        </p:nvSpPr>
        <p:spPr>
          <a:xfrm>
            <a:off x="214564" y="320060"/>
            <a:ext cx="14149136" cy="7579340"/>
          </a:xfrm>
          <a:prstGeom prst="rect">
            <a:avLst/>
          </a:prstGeom>
          <a:noFill/>
          <a:ln/>
        </p:spPr>
        <p:txBody>
          <a:bodyPr wrap="square" lIns="0" tIns="0" rIns="0" bIns="0" rtlCol="0" anchor="t"/>
          <a:lstStyle/>
          <a:p>
            <a:pPr>
              <a:lnSpc>
                <a:spcPct val="150000"/>
              </a:lnSpc>
            </a:pP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04EA6086-E138-4EC1-B07B-36386FC0B379}"/>
              </a:ext>
            </a:extLst>
          </p:cNvPr>
          <p:cNvSpPr/>
          <p:nvPr/>
        </p:nvSpPr>
        <p:spPr>
          <a:xfrm>
            <a:off x="214564" y="685004"/>
            <a:ext cx="9196137" cy="3000821"/>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b="1" dirty="0">
                <a:solidFill>
                  <a:schemeClr val="bg1"/>
                </a:solidFill>
                <a:latin typeface="Times New Roman" panose="02020603050405020304" pitchFamily="18" charset="0"/>
                <a:cs typeface="Times New Roman" panose="02020603050405020304" pitchFamily="18" charset="0"/>
              </a:rPr>
              <a:t> Topic Coherence Evaluation</a:t>
            </a:r>
            <a:endParaRPr lang="en-US" dirty="0">
              <a:solidFill>
                <a:schemeClr val="bg1"/>
              </a:solidFill>
              <a:latin typeface="Times New Roman" panose="02020603050405020304" pitchFamily="18" charset="0"/>
              <a:cs typeface="Times New Roman" panose="02020603050405020304" pitchFamily="18" charset="0"/>
            </a:endParaRPr>
          </a:p>
          <a:p>
            <a:pPr algn="just"/>
            <a:r>
              <a:rPr lang="fa-IR"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The proposed model achieved the highest topic coherence scores across all three datasets (20NewsGroups, BBC News, Trump's Tweets) compared to all baseline models. It attained notable and superior scores across all four evaluation metrics (C_V, </a:t>
            </a:r>
            <a:r>
              <a:rPr lang="en-US" dirty="0" err="1">
                <a:solidFill>
                  <a:schemeClr val="bg1"/>
                </a:solidFill>
                <a:latin typeface="Times New Roman" panose="02020603050405020304" pitchFamily="18" charset="0"/>
                <a:cs typeface="Times New Roman" panose="02020603050405020304" pitchFamily="18" charset="0"/>
              </a:rPr>
              <a:t>C_npmi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U_Mass</a:t>
            </a:r>
            <a:r>
              <a:rPr lang="en-US" dirty="0">
                <a:solidFill>
                  <a:schemeClr val="bg1"/>
                </a:solidFill>
                <a:latin typeface="Times New Roman" panose="02020603050405020304" pitchFamily="18" charset="0"/>
                <a:cs typeface="Times New Roman" panose="02020603050405020304" pitchFamily="18" charset="0"/>
              </a:rPr>
              <a:t>, and </a:t>
            </a:r>
            <a:r>
              <a:rPr lang="en-US" dirty="0" err="1">
                <a:solidFill>
                  <a:schemeClr val="bg1"/>
                </a:solidFill>
                <a:latin typeface="Times New Roman" panose="02020603050405020304" pitchFamily="18" charset="0"/>
                <a:cs typeface="Times New Roman" panose="02020603050405020304" pitchFamily="18" charset="0"/>
              </a:rPr>
              <a:t>C_uci</a:t>
            </a:r>
            <a:r>
              <a:rPr lang="en-US" dirty="0">
                <a:solidFill>
                  <a:schemeClr val="bg1"/>
                </a:solidFill>
                <a:latin typeface="Times New Roman" panose="02020603050405020304" pitchFamily="18" charset="0"/>
                <a:cs typeface="Times New Roman" panose="02020603050405020304" pitchFamily="18" charset="0"/>
              </a:rPr>
              <a:t>), demonstrating </a:t>
            </a:r>
            <a:r>
              <a:rPr lang="en-US" dirty="0">
                <a:solidFill>
                  <a:schemeClr val="bg1"/>
                </a:solidFill>
                <a:latin typeface="Times New Roman" panose="02020603050405020304" pitchFamily="18" charset="0"/>
                <a:cs typeface="+mj-cs"/>
              </a:rPr>
              <a:t>its consistent performance and effectiveness in extracting meaningful topics.(Table</a:t>
            </a:r>
            <a:r>
              <a:rPr lang="fa-IR" dirty="0">
                <a:solidFill>
                  <a:schemeClr val="bg1"/>
                </a:solidFill>
                <a:latin typeface="Times New Roman" panose="02020603050405020304" pitchFamily="18" charset="0"/>
                <a:cs typeface="+mj-cs"/>
              </a:rPr>
              <a:t>1</a:t>
            </a:r>
            <a:r>
              <a:rPr lang="en-US" dirty="0">
                <a:solidFill>
                  <a:schemeClr val="bg1"/>
                </a:solidFill>
                <a:latin typeface="Times New Roman" panose="02020603050405020304" pitchFamily="18" charset="0"/>
                <a:cs typeface="+mj-cs"/>
              </a:rPr>
              <a:t>)</a:t>
            </a:r>
            <a:endParaRPr lang="fa-IR" dirty="0">
              <a:solidFill>
                <a:schemeClr val="bg1"/>
              </a:solidFill>
              <a:latin typeface="Times New Roman" panose="02020603050405020304" pitchFamily="18" charset="0"/>
              <a:cs typeface="+mj-cs"/>
            </a:endParaRPr>
          </a:p>
          <a:p>
            <a:pPr algn="just"/>
            <a:r>
              <a:rPr lang="en-US" dirty="0">
                <a:solidFill>
                  <a:schemeClr val="bg1"/>
                </a:solidFill>
                <a:cs typeface="+mj-cs"/>
              </a:rPr>
              <a:t>The best performance was observed on the </a:t>
            </a:r>
            <a:r>
              <a:rPr lang="en-US" b="1" dirty="0">
                <a:solidFill>
                  <a:schemeClr val="bg1"/>
                </a:solidFill>
                <a:cs typeface="+mj-cs"/>
              </a:rPr>
              <a:t>20NewsGroups dataset</a:t>
            </a:r>
            <a:r>
              <a:rPr lang="en-US" dirty="0">
                <a:solidFill>
                  <a:schemeClr val="bg1"/>
                </a:solidFill>
                <a:cs typeface="+mj-cs"/>
              </a:rPr>
              <a:t>, indicating that the model performs optimally on structured and long-form data (such as news articles). At the same time, the results demonstrate that the model also performs adequately on short texts like tweets, achieving a reasonable and competitive score.</a:t>
            </a:r>
            <a:endParaRPr lang="en-US"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DF60648-A48C-4498-A78D-0710255E618F}"/>
              </a:ext>
            </a:extLst>
          </p:cNvPr>
          <p:cNvPicPr>
            <a:picLocks noChangeAspect="1"/>
          </p:cNvPicPr>
          <p:nvPr/>
        </p:nvPicPr>
        <p:blipFill>
          <a:blip r:embed="rId2"/>
          <a:stretch>
            <a:fillRect/>
          </a:stretch>
        </p:blipFill>
        <p:spPr>
          <a:xfrm>
            <a:off x="9410701" y="136905"/>
            <a:ext cx="5041900" cy="2883697"/>
          </a:xfrm>
          <a:prstGeom prst="rect">
            <a:avLst/>
          </a:prstGeom>
        </p:spPr>
      </p:pic>
      <p:sp>
        <p:nvSpPr>
          <p:cNvPr id="6" name="Rectangle 5">
            <a:extLst>
              <a:ext uri="{FF2B5EF4-FFF2-40B4-BE49-F238E27FC236}">
                <a16:creationId xmlns:a16="http://schemas.microsoft.com/office/drawing/2014/main" id="{73B9A9E1-AA7F-496D-B2FA-8F44666D5BFC}"/>
              </a:ext>
            </a:extLst>
          </p:cNvPr>
          <p:cNvSpPr/>
          <p:nvPr/>
        </p:nvSpPr>
        <p:spPr>
          <a:xfrm>
            <a:off x="125664" y="4271335"/>
            <a:ext cx="9679746" cy="873572"/>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b="1" dirty="0">
                <a:solidFill>
                  <a:schemeClr val="bg1"/>
                </a:solidFill>
                <a:latin typeface="Times New Roman" panose="02020603050405020304" pitchFamily="18" charset="0"/>
                <a:cs typeface="Times New Roman" panose="02020603050405020304" pitchFamily="18" charset="0"/>
              </a:rPr>
              <a:t> Comparison with Traditional and Embedding-Based Models</a:t>
            </a:r>
          </a:p>
          <a:p>
            <a:pPr>
              <a:lnSpc>
                <a:spcPct val="150000"/>
              </a:lnSpc>
            </a:pPr>
            <a:r>
              <a:rPr lang="en-US" dirty="0">
                <a:solidFill>
                  <a:schemeClr val="bg1"/>
                </a:solidFill>
                <a:latin typeface="Times New Roman" panose="02020603050405020304" pitchFamily="18" charset="0"/>
                <a:cs typeface="Times New Roman" panose="02020603050405020304" pitchFamily="18" charset="0"/>
              </a:rPr>
              <a:t>     The proposed model significantly outperformed both classical and modern models.(Table2)</a:t>
            </a:r>
          </a:p>
        </p:txBody>
      </p:sp>
      <p:pic>
        <p:nvPicPr>
          <p:cNvPr id="7" name="Picture 6">
            <a:extLst>
              <a:ext uri="{FF2B5EF4-FFF2-40B4-BE49-F238E27FC236}">
                <a16:creationId xmlns:a16="http://schemas.microsoft.com/office/drawing/2014/main" id="{64FCD8EF-3DE9-4682-9F15-724B35A58373}"/>
              </a:ext>
            </a:extLst>
          </p:cNvPr>
          <p:cNvPicPr>
            <a:picLocks noChangeAspect="1"/>
          </p:cNvPicPr>
          <p:nvPr/>
        </p:nvPicPr>
        <p:blipFill>
          <a:blip r:embed="rId3"/>
          <a:stretch>
            <a:fillRect/>
          </a:stretch>
        </p:blipFill>
        <p:spPr>
          <a:xfrm>
            <a:off x="9410701" y="3511571"/>
            <a:ext cx="5041900" cy="2762229"/>
          </a:xfrm>
          <a:prstGeom prst="rect">
            <a:avLst/>
          </a:prstGeom>
        </p:spPr>
      </p:pic>
      <p:sp>
        <p:nvSpPr>
          <p:cNvPr id="8" name="Rectangle 7">
            <a:extLst>
              <a:ext uri="{FF2B5EF4-FFF2-40B4-BE49-F238E27FC236}">
                <a16:creationId xmlns:a16="http://schemas.microsoft.com/office/drawing/2014/main" id="{E815E559-2068-405D-8A17-8DFF05FB8C4F}"/>
              </a:ext>
            </a:extLst>
          </p:cNvPr>
          <p:cNvSpPr/>
          <p:nvPr/>
        </p:nvSpPr>
        <p:spPr>
          <a:xfrm>
            <a:off x="214564" y="5658910"/>
            <a:ext cx="14820899" cy="2446824"/>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b="1" dirty="0">
                <a:solidFill>
                  <a:schemeClr val="bg1"/>
                </a:solidFill>
                <a:latin typeface="Times New Roman" panose="02020603050405020304" pitchFamily="18" charset="0"/>
                <a:cs typeface="Times New Roman" panose="02020603050405020304" pitchFamily="18" charset="0"/>
              </a:rPr>
              <a:t>Comparison with </a:t>
            </a:r>
            <a:r>
              <a:rPr lang="en-US" b="1" dirty="0" err="1">
                <a:solidFill>
                  <a:schemeClr val="bg1"/>
                </a:solidFill>
                <a:latin typeface="Times New Roman" panose="02020603050405020304" pitchFamily="18" charset="0"/>
                <a:cs typeface="Times New Roman" panose="02020603050405020304" pitchFamily="18" charset="0"/>
              </a:rPr>
              <a:t>ChatGPT</a:t>
            </a:r>
            <a:r>
              <a:rPr lang="en-US" dirty="0">
                <a:solidFill>
                  <a:schemeClr val="bg1"/>
                </a:solidFill>
                <a:latin typeface="Times New Roman" panose="02020603050405020304" pitchFamily="18" charset="0"/>
                <a:cs typeface="Times New Roman" panose="02020603050405020304" pitchFamily="18" charset="0"/>
              </a:rPr>
              <a:t>:</a:t>
            </a:r>
          </a:p>
          <a:p>
            <a:pPr>
              <a:lnSpc>
                <a:spcPct val="150000"/>
              </a:lnSpc>
            </a:pPr>
            <a:r>
              <a:rPr lang="en-US" dirty="0">
                <a:solidFill>
                  <a:schemeClr val="bg1"/>
                </a:solidFill>
                <a:latin typeface="Times New Roman" panose="02020603050405020304" pitchFamily="18" charset="0"/>
                <a:cs typeface="Times New Roman" panose="02020603050405020304" pitchFamily="18" charset="0"/>
              </a:rPr>
              <a:t>     </a:t>
            </a:r>
            <a:r>
              <a:rPr lang="en-US" b="1" dirty="0" err="1">
                <a:solidFill>
                  <a:schemeClr val="bg1"/>
                </a:solidFill>
                <a:latin typeface="Times New Roman" panose="02020603050405020304" pitchFamily="18" charset="0"/>
                <a:cs typeface="Times New Roman" panose="02020603050405020304" pitchFamily="18" charset="0"/>
              </a:rPr>
              <a:t>ChatGPT</a:t>
            </a:r>
            <a:r>
              <a:rPr lang="en-US" dirty="0">
                <a:solidFill>
                  <a:schemeClr val="bg1"/>
                </a:solidFill>
                <a:latin typeface="Times New Roman" panose="02020603050405020304" pitchFamily="18" charset="0"/>
                <a:cs typeface="Times New Roman" panose="02020603050405020304" pitchFamily="18" charset="0"/>
              </a:rPr>
              <a:t> was not suitable for large datasets and required chunking, which led to:</a:t>
            </a:r>
          </a:p>
          <a:p>
            <a:pPr marL="742950" lvl="1"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Loss of latent themes</a:t>
            </a:r>
          </a:p>
          <a:p>
            <a:pPr marL="742950" lvl="1"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Inability to process sequential data effectively</a:t>
            </a:r>
          </a:p>
          <a:p>
            <a:pPr marL="742950" lvl="1"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Lack of built-in evaluation metrics</a:t>
            </a:r>
          </a:p>
          <a:p>
            <a:r>
              <a:rPr lang="en-US" dirty="0">
                <a:solidFill>
                  <a:schemeClr val="bg1"/>
                </a:solidFill>
                <a:latin typeface="Times New Roman" panose="02020603050405020304" pitchFamily="18" charset="0"/>
                <a:cs typeface="Times New Roman" panose="02020603050405020304" pitchFamily="18" charset="0"/>
              </a:rPr>
              <a:t>    The proposed model performed better than </a:t>
            </a:r>
            <a:r>
              <a:rPr lang="en-US" dirty="0" err="1">
                <a:solidFill>
                  <a:schemeClr val="bg1"/>
                </a:solidFill>
                <a:latin typeface="Times New Roman" panose="02020603050405020304" pitchFamily="18" charset="0"/>
                <a:cs typeface="Times New Roman" panose="02020603050405020304" pitchFamily="18" charset="0"/>
              </a:rPr>
              <a:t>ChatGPT</a:t>
            </a:r>
            <a:r>
              <a:rPr lang="en-US" dirty="0">
                <a:solidFill>
                  <a:schemeClr val="bg1"/>
                </a:solidFill>
                <a:latin typeface="Times New Roman" panose="02020603050405020304" pitchFamily="18" charset="0"/>
                <a:cs typeface="Times New Roman" panose="02020603050405020304" pitchFamily="18" charset="0"/>
              </a:rPr>
              <a:t> in terms of </a:t>
            </a:r>
            <a:r>
              <a:rPr lang="en-US" b="1" dirty="0">
                <a:solidFill>
                  <a:schemeClr val="bg1"/>
                </a:solidFill>
                <a:latin typeface="Times New Roman" panose="02020603050405020304" pitchFamily="18" charset="0"/>
                <a:cs typeface="Times New Roman" panose="02020603050405020304" pitchFamily="18" charset="0"/>
              </a:rPr>
              <a:t>scalability, reliability, and topic quality</a:t>
            </a:r>
            <a:r>
              <a:rPr lang="en-US" dirty="0"/>
              <a:t>.</a:t>
            </a:r>
          </a:p>
        </p:txBody>
      </p:sp>
    </p:spTree>
    <p:extLst>
      <p:ext uri="{BB962C8B-B14F-4D97-AF65-F5344CB8AC3E}">
        <p14:creationId xmlns:p14="http://schemas.microsoft.com/office/powerpoint/2010/main" val="973150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3DE7FE-FC2F-40B8-B3AF-FF5DE6B28CB2}"/>
              </a:ext>
            </a:extLst>
          </p:cNvPr>
          <p:cNvSpPr txBox="1"/>
          <p:nvPr/>
        </p:nvSpPr>
        <p:spPr>
          <a:xfrm>
            <a:off x="366964" y="136905"/>
            <a:ext cx="6351336" cy="822789"/>
          </a:xfrm>
          <a:prstGeom prst="rect">
            <a:avLst/>
          </a:prstGeom>
          <a:noFill/>
        </p:spPr>
        <p:txBody>
          <a:bodyPr wrap="square">
            <a:spAutoFit/>
          </a:bodyPr>
          <a:lstStyle/>
          <a:p>
            <a:pPr>
              <a:lnSpc>
                <a:spcPct val="200000"/>
              </a:lnSpc>
            </a:pPr>
            <a:r>
              <a:rPr lang="en-US" sz="2800" b="1" dirty="0">
                <a:solidFill>
                  <a:srgbClr val="FFC000"/>
                </a:solidFill>
                <a:latin typeface="Times New Roman" panose="02020603050405020304" pitchFamily="18" charset="0"/>
                <a:cs typeface="Times New Roman" panose="02020603050405020304" pitchFamily="18" charset="0"/>
              </a:rPr>
              <a:t>Sample Extracted Topics</a:t>
            </a:r>
            <a:endParaRPr lang="en-US" sz="2800" dirty="0">
              <a:solidFill>
                <a:srgbClr val="FFC000"/>
              </a:solidFill>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FEF5BFB4-FD3A-45F6-9E44-1BB819F4A83A}"/>
              </a:ext>
            </a:extLst>
          </p:cNvPr>
          <p:cNvSpPr/>
          <p:nvPr/>
        </p:nvSpPr>
        <p:spPr>
          <a:xfrm>
            <a:off x="481264" y="1983760"/>
            <a:ext cx="14149136" cy="7579340"/>
          </a:xfrm>
          <a:prstGeom prst="rect">
            <a:avLst/>
          </a:prstGeom>
          <a:noFill/>
          <a:ln/>
        </p:spPr>
        <p:txBody>
          <a:bodyPr wrap="square" lIns="0" tIns="0" rIns="0" bIns="0" rtlCol="0" anchor="t"/>
          <a:lstStyle/>
          <a:p>
            <a:pPr>
              <a:lnSpc>
                <a:spcPct val="150000"/>
              </a:lnSpc>
            </a:pPr>
            <a:endParaRPr lang="en-US" dirty="0">
              <a:solidFill>
                <a:schemeClr val="bg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B924ADFB-20C3-4F55-AE8C-5A541872723A}"/>
              </a:ext>
            </a:extLst>
          </p:cNvPr>
          <p:cNvSpPr/>
          <p:nvPr/>
        </p:nvSpPr>
        <p:spPr>
          <a:xfrm>
            <a:off x="481264" y="1196539"/>
            <a:ext cx="11478131" cy="4307398"/>
          </a:xfrm>
          <a:prstGeom prst="rect">
            <a:avLst/>
          </a:prstGeom>
        </p:spPr>
        <p:txBody>
          <a:bodyPr wrap="square">
            <a:spAutoFit/>
          </a:bodyPr>
          <a:lstStyle/>
          <a:p>
            <a:pPr>
              <a:lnSpc>
                <a:spcPct val="200000"/>
              </a:lnSpc>
            </a:pPr>
            <a:r>
              <a:rPr lang="en-US" sz="2000" dirty="0">
                <a:solidFill>
                  <a:schemeClr val="bg1"/>
                </a:solidFill>
                <a:latin typeface="Times New Roman" panose="02020603050405020304" pitchFamily="18" charset="0"/>
                <a:cs typeface="Times New Roman" panose="02020603050405020304" pitchFamily="18" charset="0"/>
              </a:rPr>
              <a:t>For the </a:t>
            </a:r>
            <a:r>
              <a:rPr lang="en-US" sz="2000" b="1" dirty="0">
                <a:solidFill>
                  <a:schemeClr val="bg1"/>
                </a:solidFill>
                <a:latin typeface="Times New Roman" panose="02020603050405020304" pitchFamily="18" charset="0"/>
                <a:cs typeface="Times New Roman" panose="02020603050405020304" pitchFamily="18" charset="0"/>
              </a:rPr>
              <a:t>20NewsGroups</a:t>
            </a:r>
            <a:r>
              <a:rPr lang="en-US" sz="2000" dirty="0">
                <a:solidFill>
                  <a:schemeClr val="bg1"/>
                </a:solidFill>
                <a:latin typeface="Times New Roman" panose="02020603050405020304" pitchFamily="18" charset="0"/>
                <a:cs typeface="Times New Roman" panose="02020603050405020304" pitchFamily="18" charset="0"/>
              </a:rPr>
              <a:t> dataset, 20 meaningful topics were extracted, including:</a:t>
            </a:r>
          </a:p>
          <a:p>
            <a:pPr marL="742950" lvl="1" indent="-285750">
              <a:lnSpc>
                <a:spcPct val="200000"/>
              </a:lnSpc>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Religion: </a:t>
            </a:r>
            <a:r>
              <a:rPr lang="en-US" sz="2000" dirty="0" err="1">
                <a:solidFill>
                  <a:schemeClr val="bg1"/>
                </a:solidFill>
                <a:latin typeface="Times New Roman" panose="02020603050405020304" pitchFamily="18" charset="0"/>
                <a:cs typeface="Times New Roman" panose="02020603050405020304" pitchFamily="18" charset="0"/>
              </a:rPr>
              <a:t>jesus</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christ</a:t>
            </a:r>
            <a:r>
              <a:rPr lang="en-US" sz="2000" dirty="0">
                <a:solidFill>
                  <a:schemeClr val="bg1"/>
                </a:solidFill>
                <a:latin typeface="Times New Roman" panose="02020603050405020304" pitchFamily="18" charset="0"/>
                <a:cs typeface="Times New Roman" panose="02020603050405020304" pitchFamily="18" charset="0"/>
              </a:rPr>
              <a:t>, god, bible, </a:t>
            </a:r>
            <a:r>
              <a:rPr lang="en-US" sz="2000" dirty="0" err="1">
                <a:solidFill>
                  <a:schemeClr val="bg1"/>
                </a:solidFill>
                <a:latin typeface="Times New Roman" panose="02020603050405020304" pitchFamily="18" charset="0"/>
                <a:cs typeface="Times New Roman" panose="02020603050405020304" pitchFamily="18" charset="0"/>
              </a:rPr>
              <a:t>christians</a:t>
            </a:r>
            <a:r>
              <a:rPr lang="en-US" sz="2000" dirty="0">
                <a:solidFill>
                  <a:schemeClr val="bg1"/>
                </a:solidFill>
                <a:latin typeface="Times New Roman" panose="02020603050405020304" pitchFamily="18" charset="0"/>
                <a:cs typeface="Times New Roman" panose="02020603050405020304" pitchFamily="18" charset="0"/>
              </a:rPr>
              <a:t>, ...</a:t>
            </a:r>
          </a:p>
          <a:p>
            <a:pPr marL="742950" lvl="1" indent="-285750">
              <a:lnSpc>
                <a:spcPct val="200000"/>
              </a:lnSpc>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Technology: monitor, card, pc, disk, system, ...</a:t>
            </a:r>
          </a:p>
          <a:p>
            <a:pPr marL="742950" lvl="1" indent="-285750">
              <a:lnSpc>
                <a:spcPct val="200000"/>
              </a:lnSpc>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Medical: medical, health, doctor, patient, disease, ...</a:t>
            </a:r>
          </a:p>
          <a:p>
            <a:pPr marL="742950" lvl="1" indent="-285750">
              <a:lnSpc>
                <a:spcPct val="200000"/>
              </a:lnSpc>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Sports: season, game, teams, hockey, playoff, ...</a:t>
            </a:r>
          </a:p>
          <a:p>
            <a:pPr marL="742950" lvl="1" indent="-285750">
              <a:lnSpc>
                <a:spcPct val="200000"/>
              </a:lnSpc>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Politics: law, govern, protect, legal, citizen, ...</a:t>
            </a:r>
          </a:p>
          <a:p>
            <a:pPr>
              <a:lnSpc>
                <a:spcPct val="200000"/>
              </a:lnSpc>
            </a:pPr>
            <a:r>
              <a:rPr lang="en-US" sz="2000" b="1" dirty="0">
                <a:solidFill>
                  <a:srgbClr val="FFC000"/>
                </a:solidFill>
                <a:latin typeface="Times New Roman" panose="02020603050405020304" pitchFamily="18" charset="0"/>
                <a:cs typeface="Times New Roman" panose="02020603050405020304" pitchFamily="18" charset="0"/>
              </a:rPr>
              <a:t>Average topic coherence</a:t>
            </a:r>
            <a:r>
              <a:rPr lang="en-US" sz="2000" dirty="0">
                <a:solidFill>
                  <a:srgbClr val="FFC000"/>
                </a:solidFill>
                <a:latin typeface="Times New Roman" panose="02020603050405020304" pitchFamily="18" charset="0"/>
                <a:cs typeface="Times New Roman" panose="02020603050405020304" pitchFamily="18" charset="0"/>
              </a:rPr>
              <a:t> for these topics: </a:t>
            </a:r>
            <a:r>
              <a:rPr lang="en-US" sz="2000" b="1" dirty="0">
                <a:solidFill>
                  <a:srgbClr val="FFC000"/>
                </a:solidFill>
                <a:latin typeface="Times New Roman" panose="02020603050405020304" pitchFamily="18" charset="0"/>
                <a:cs typeface="Times New Roman" panose="02020603050405020304" pitchFamily="18" charset="0"/>
              </a:rPr>
              <a:t>0.685</a:t>
            </a:r>
            <a:endParaRPr lang="en-US" sz="2000" b="0" i="0" dirty="0">
              <a:solidFill>
                <a:srgbClr val="FFC000"/>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C767504-C58F-4511-8984-B74A1E52FDBE}"/>
              </a:ext>
            </a:extLst>
          </p:cNvPr>
          <p:cNvPicPr>
            <a:picLocks noChangeAspect="1"/>
          </p:cNvPicPr>
          <p:nvPr/>
        </p:nvPicPr>
        <p:blipFill>
          <a:blip r:embed="rId2"/>
          <a:stretch>
            <a:fillRect/>
          </a:stretch>
        </p:blipFill>
        <p:spPr>
          <a:xfrm>
            <a:off x="6823494" y="3482975"/>
            <a:ext cx="7635456" cy="4619625"/>
          </a:xfrm>
          <a:prstGeom prst="rect">
            <a:avLst/>
          </a:prstGeom>
        </p:spPr>
      </p:pic>
    </p:spTree>
    <p:extLst>
      <p:ext uri="{BB962C8B-B14F-4D97-AF65-F5344CB8AC3E}">
        <p14:creationId xmlns:p14="http://schemas.microsoft.com/office/powerpoint/2010/main" val="2883680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719EB99-AD5A-4170-809C-AE318692E0DC}"/>
              </a:ext>
            </a:extLst>
          </p:cNvPr>
          <p:cNvSpPr/>
          <p:nvPr/>
        </p:nvSpPr>
        <p:spPr>
          <a:xfrm>
            <a:off x="5140011" y="2797743"/>
            <a:ext cx="9033329" cy="1719702"/>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2" name="Rectangle 1">
            <a:extLst>
              <a:ext uri="{FF2B5EF4-FFF2-40B4-BE49-F238E27FC236}">
                <a16:creationId xmlns:a16="http://schemas.microsoft.com/office/drawing/2014/main" id="{9C946A32-70CA-4A07-A0A9-701F75FB9439}"/>
              </a:ext>
            </a:extLst>
          </p:cNvPr>
          <p:cNvSpPr/>
          <p:nvPr/>
        </p:nvSpPr>
        <p:spPr>
          <a:xfrm>
            <a:off x="1969478" y="74565"/>
            <a:ext cx="10257692" cy="458074"/>
          </a:xfrm>
          <a:prstGeom prst="rect">
            <a:avLst/>
          </a:prstGeom>
        </p:spPr>
        <p:txBody>
          <a:bodyPr wrap="square">
            <a:spAutoFit/>
          </a:bodyPr>
          <a:lstStyle/>
          <a:p>
            <a:pPr>
              <a:lnSpc>
                <a:spcPct val="150000"/>
              </a:lnSpc>
            </a:pPr>
            <a:r>
              <a:rPr lang="en-US" b="1" dirty="0">
                <a:solidFill>
                  <a:srgbClr val="FFC000"/>
                </a:solidFill>
                <a:latin typeface="Times New Roman" panose="02020603050405020304" pitchFamily="18" charset="0"/>
                <a:cs typeface="Times New Roman" panose="02020603050405020304" pitchFamily="18" charset="0"/>
              </a:rPr>
              <a:t>Semantic-Driven Topic Modeling Using Transformer-Based Embeddings and Clustering Algorithms </a:t>
            </a:r>
          </a:p>
        </p:txBody>
      </p:sp>
      <p:sp>
        <p:nvSpPr>
          <p:cNvPr id="8" name="Rectangle 7">
            <a:extLst>
              <a:ext uri="{FF2B5EF4-FFF2-40B4-BE49-F238E27FC236}">
                <a16:creationId xmlns:a16="http://schemas.microsoft.com/office/drawing/2014/main" id="{3F69B1F8-59C4-4670-A119-C569620591D4}"/>
              </a:ext>
            </a:extLst>
          </p:cNvPr>
          <p:cNvSpPr/>
          <p:nvPr/>
        </p:nvSpPr>
        <p:spPr>
          <a:xfrm>
            <a:off x="1160585" y="607638"/>
            <a:ext cx="12403016" cy="276999"/>
          </a:xfrm>
          <a:prstGeom prst="rect">
            <a:avLst/>
          </a:prstGeom>
        </p:spPr>
        <p:txBody>
          <a:bodyPr wrap="square">
            <a:spAutoFit/>
          </a:bodyPr>
          <a:lstStyle/>
          <a:p>
            <a:r>
              <a:rPr lang="en-US" sz="1200" dirty="0" err="1">
                <a:solidFill>
                  <a:schemeClr val="bg1"/>
                </a:solidFill>
                <a:latin typeface="Times New Roman" panose="02020603050405020304" pitchFamily="18" charset="0"/>
                <a:cs typeface="Times New Roman" panose="02020603050405020304" pitchFamily="18" charset="0"/>
              </a:rPr>
              <a:t>Mersha</a:t>
            </a:r>
            <a:r>
              <a:rPr lang="en-US" sz="1200" dirty="0">
                <a:solidFill>
                  <a:schemeClr val="bg1"/>
                </a:solidFill>
                <a:latin typeface="Times New Roman" panose="02020603050405020304" pitchFamily="18" charset="0"/>
                <a:cs typeface="Times New Roman" panose="02020603050405020304" pitchFamily="18" charset="0"/>
              </a:rPr>
              <a:t>, M. A., </a:t>
            </a:r>
            <a:r>
              <a:rPr lang="en-US" sz="1200" dirty="0" err="1">
                <a:solidFill>
                  <a:schemeClr val="bg1"/>
                </a:solidFill>
                <a:latin typeface="Times New Roman" panose="02020603050405020304" pitchFamily="18" charset="0"/>
                <a:cs typeface="Times New Roman" panose="02020603050405020304" pitchFamily="18" charset="0"/>
              </a:rPr>
              <a:t>Yigezu</a:t>
            </a:r>
            <a:r>
              <a:rPr lang="en-US" sz="1200" dirty="0">
                <a:solidFill>
                  <a:schemeClr val="bg1"/>
                </a:solidFill>
                <a:latin typeface="Times New Roman" panose="02020603050405020304" pitchFamily="18" charset="0"/>
                <a:cs typeface="Times New Roman" panose="02020603050405020304" pitchFamily="18" charset="0"/>
              </a:rPr>
              <a:t>, M. G., &amp; </a:t>
            </a:r>
            <a:r>
              <a:rPr lang="en-US" sz="1200" dirty="0" err="1">
                <a:solidFill>
                  <a:schemeClr val="bg1"/>
                </a:solidFill>
                <a:latin typeface="Times New Roman" panose="02020603050405020304" pitchFamily="18" charset="0"/>
                <a:cs typeface="Times New Roman" panose="02020603050405020304" pitchFamily="18" charset="0"/>
              </a:rPr>
              <a:t>Kalita</a:t>
            </a:r>
            <a:r>
              <a:rPr lang="en-US" sz="1200" dirty="0">
                <a:solidFill>
                  <a:schemeClr val="bg1"/>
                </a:solidFill>
                <a:latin typeface="Times New Roman" panose="02020603050405020304" pitchFamily="18" charset="0"/>
                <a:cs typeface="Times New Roman" panose="02020603050405020304" pitchFamily="18" charset="0"/>
              </a:rPr>
              <a:t>, J. (2024). Semantic-Driven Topic Modeling Using Transformer-Based Embeddings and Clustering Algorithms. </a:t>
            </a:r>
            <a:r>
              <a:rPr lang="en-US" sz="1200" i="1" dirty="0">
                <a:solidFill>
                  <a:schemeClr val="bg1"/>
                </a:solidFill>
                <a:latin typeface="Times New Roman" panose="02020603050405020304" pitchFamily="18" charset="0"/>
                <a:cs typeface="Times New Roman" panose="02020603050405020304" pitchFamily="18" charset="0"/>
              </a:rPr>
              <a:t>Procedia Computer Science, 244</a:t>
            </a:r>
            <a:r>
              <a:rPr lang="en-US" sz="1200" dirty="0">
                <a:solidFill>
                  <a:schemeClr val="bg1"/>
                </a:solidFill>
                <a:latin typeface="Times New Roman" panose="02020603050405020304" pitchFamily="18" charset="0"/>
                <a:cs typeface="Times New Roman" panose="02020603050405020304" pitchFamily="18" charset="0"/>
              </a:rPr>
              <a:t>, 121–132.</a:t>
            </a:r>
          </a:p>
        </p:txBody>
      </p:sp>
      <p:sp>
        <p:nvSpPr>
          <p:cNvPr id="10" name="Rectangle 9">
            <a:extLst>
              <a:ext uri="{FF2B5EF4-FFF2-40B4-BE49-F238E27FC236}">
                <a16:creationId xmlns:a16="http://schemas.microsoft.com/office/drawing/2014/main" id="{11DB2FE8-B604-47B0-A2CA-81B82776CAD1}"/>
              </a:ext>
            </a:extLst>
          </p:cNvPr>
          <p:cNvSpPr/>
          <p:nvPr/>
        </p:nvSpPr>
        <p:spPr>
          <a:xfrm>
            <a:off x="478971" y="951041"/>
            <a:ext cx="13756194" cy="1719702"/>
          </a:xfrm>
          <a:prstGeom prst="rect">
            <a:avLst/>
          </a:prstGeom>
        </p:spPr>
        <p:txBody>
          <a:bodyPr wrap="square">
            <a:spAutoFit/>
          </a:bodyPr>
          <a:lstStyle/>
          <a:p>
            <a:pPr algn="l">
              <a:lnSpc>
                <a:spcPct val="150000"/>
              </a:lnSpc>
            </a:pPr>
            <a:r>
              <a:rPr lang="en-US" b="1" dirty="0">
                <a:solidFill>
                  <a:srgbClr val="FFC000"/>
                </a:solidFill>
                <a:latin typeface="Times New Roman" panose="02020603050405020304" pitchFamily="18" charset="0"/>
                <a:cs typeface="Times New Roman" panose="02020603050405020304" pitchFamily="18" charset="0"/>
              </a:rPr>
              <a:t>Main objective of the article:</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This article addresses the key limitation of traditional Topic Modeling methods: the inability to comprehend context-dependent meaning. Methods such as LDA operate solely based on word co-occurrence and fail to capture conceptual semantics. Even certain Transformer-based models do not fully utilize the linguistic understanding power of these models in the final stage of topic extraction.</a:t>
            </a:r>
          </a:p>
        </p:txBody>
      </p:sp>
      <p:sp>
        <p:nvSpPr>
          <p:cNvPr id="12" name="Rectangle 11">
            <a:extLst>
              <a:ext uri="{FF2B5EF4-FFF2-40B4-BE49-F238E27FC236}">
                <a16:creationId xmlns:a16="http://schemas.microsoft.com/office/drawing/2014/main" id="{94A33E58-18C7-4900-8FDE-8CECB968D125}"/>
              </a:ext>
            </a:extLst>
          </p:cNvPr>
          <p:cNvSpPr/>
          <p:nvPr/>
        </p:nvSpPr>
        <p:spPr>
          <a:xfrm>
            <a:off x="1609133" y="2616551"/>
            <a:ext cx="3420068" cy="2535566"/>
          </a:xfrm>
          <a:prstGeom prst="rect">
            <a:avLst/>
          </a:prstGeom>
        </p:spPr>
        <p:txBody>
          <a:bodyPr wrap="square">
            <a:spAutoFit/>
          </a:bodyPr>
          <a:lstStyle/>
          <a:p>
            <a:pPr algn="l">
              <a:lnSpc>
                <a:spcPct val="150000"/>
              </a:lnSpc>
            </a:pPr>
            <a:r>
              <a:rPr lang="en-US" b="1" dirty="0">
                <a:solidFill>
                  <a:srgbClr val="FFC000"/>
                </a:solidFill>
                <a:latin typeface="Times New Roman" panose="02020603050405020304" pitchFamily="18" charset="0"/>
                <a:cs typeface="Times New Roman" panose="02020603050405020304" pitchFamily="18" charset="0"/>
              </a:rPr>
              <a:t>Proposed Method Architecture:</a:t>
            </a:r>
            <a:endParaRPr lang="fa-IR" b="1" dirty="0">
              <a:solidFill>
                <a:srgbClr val="FFC000"/>
              </a:solidFill>
              <a:latin typeface="Times New Roman" panose="02020603050405020304" pitchFamily="18" charset="0"/>
              <a:cs typeface="Times New Roman" panose="02020603050405020304" pitchFamily="18" charset="0"/>
            </a:endParaRPr>
          </a:p>
          <a:p>
            <a:pPr marL="342900" indent="-342900" algn="l">
              <a:lnSpc>
                <a:spcPct val="150000"/>
              </a:lnSpc>
              <a:buFont typeface="+mj-lt"/>
              <a:buAutoNum type="alphaUcPeriod"/>
            </a:pPr>
            <a:r>
              <a:rPr lang="en-US" dirty="0">
                <a:solidFill>
                  <a:schemeClr val="bg1"/>
                </a:solidFill>
                <a:latin typeface="Times New Roman" panose="02020603050405020304" pitchFamily="18" charset="0"/>
                <a:cs typeface="Times New Roman" panose="02020603050405020304" pitchFamily="18" charset="0"/>
              </a:rPr>
              <a:t>Unsupervised Pipeline</a:t>
            </a:r>
            <a:r>
              <a:rPr lang="fa-IR" dirty="0">
                <a:solidFill>
                  <a:schemeClr val="bg1"/>
                </a:solidFill>
                <a:latin typeface="Times New Roman" panose="02020603050405020304" pitchFamily="18" charset="0"/>
                <a:cs typeface="Times New Roman" panose="02020603050405020304" pitchFamily="18" charset="0"/>
              </a:rPr>
              <a:t> :</a:t>
            </a:r>
          </a:p>
          <a:p>
            <a:pPr marL="342900" indent="-342900" algn="l">
              <a:lnSpc>
                <a:spcPct val="150000"/>
              </a:lnSpc>
              <a:buFont typeface="+mj-lt"/>
              <a:buAutoNum type="alphaUcPeriod"/>
            </a:pPr>
            <a:r>
              <a:rPr lang="fa-IR"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Document Embedding</a:t>
            </a:r>
            <a:endParaRPr lang="fa-IR" dirty="0">
              <a:solidFill>
                <a:schemeClr val="bg1"/>
              </a:solidFill>
              <a:latin typeface="Times New Roman" panose="02020603050405020304" pitchFamily="18" charset="0"/>
              <a:cs typeface="Times New Roman" panose="02020603050405020304" pitchFamily="18" charset="0"/>
            </a:endParaRPr>
          </a:p>
          <a:p>
            <a:pPr marL="342900" indent="-342900" algn="l">
              <a:lnSpc>
                <a:spcPct val="150000"/>
              </a:lnSpc>
              <a:buFont typeface="+mj-lt"/>
              <a:buAutoNum type="alphaUcPeriod"/>
            </a:pPr>
            <a:r>
              <a:rPr lang="en-US" dirty="0">
                <a:solidFill>
                  <a:schemeClr val="bg1"/>
                </a:solidFill>
                <a:latin typeface="Times New Roman" panose="02020603050405020304" pitchFamily="18" charset="0"/>
                <a:cs typeface="Times New Roman" panose="02020603050405020304" pitchFamily="18" charset="0"/>
              </a:rPr>
              <a:t>Dimension Reduction</a:t>
            </a:r>
            <a:endParaRPr lang="fa-IR" dirty="0">
              <a:solidFill>
                <a:schemeClr val="bg1"/>
              </a:solidFill>
              <a:latin typeface="Times New Roman" panose="02020603050405020304" pitchFamily="18" charset="0"/>
              <a:cs typeface="Times New Roman" panose="02020603050405020304" pitchFamily="18" charset="0"/>
            </a:endParaRPr>
          </a:p>
          <a:p>
            <a:pPr marL="342900" indent="-342900" algn="l">
              <a:lnSpc>
                <a:spcPct val="150000"/>
              </a:lnSpc>
              <a:buFont typeface="+mj-lt"/>
              <a:buAutoNum type="alphaUcPeriod"/>
            </a:pPr>
            <a:r>
              <a:rPr lang="en-US" dirty="0">
                <a:solidFill>
                  <a:schemeClr val="bg1"/>
                </a:solidFill>
                <a:latin typeface="Times New Roman" panose="02020603050405020304" pitchFamily="18" charset="0"/>
                <a:cs typeface="Times New Roman" panose="02020603050405020304" pitchFamily="18" charset="0"/>
              </a:rPr>
              <a:t>Document Clustering</a:t>
            </a:r>
            <a:endParaRPr lang="fa-IR" dirty="0">
              <a:solidFill>
                <a:schemeClr val="bg1"/>
              </a:solidFill>
              <a:latin typeface="Times New Roman" panose="02020603050405020304" pitchFamily="18" charset="0"/>
              <a:cs typeface="Times New Roman" panose="02020603050405020304" pitchFamily="18" charset="0"/>
            </a:endParaRPr>
          </a:p>
          <a:p>
            <a:pPr marL="342900" indent="-342900" algn="l">
              <a:lnSpc>
                <a:spcPct val="150000"/>
              </a:lnSpc>
              <a:buFont typeface="+mj-lt"/>
              <a:buAutoNum type="alphaUcPeriod"/>
            </a:pPr>
            <a:r>
              <a:rPr lang="en-US" dirty="0">
                <a:solidFill>
                  <a:schemeClr val="bg1"/>
                </a:solidFill>
                <a:latin typeface="Times New Roman" panose="02020603050405020304" pitchFamily="18" charset="0"/>
                <a:cs typeface="Times New Roman" panose="02020603050405020304" pitchFamily="18" charset="0"/>
              </a:rPr>
              <a:t>Topic Extraction</a:t>
            </a:r>
            <a:endParaRPr lang="fa-IR" dirty="0">
              <a:solidFill>
                <a:schemeClr val="bg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E9145D93-88B6-4071-A916-D35F98252877}"/>
              </a:ext>
            </a:extLst>
          </p:cNvPr>
          <p:cNvSpPr/>
          <p:nvPr/>
        </p:nvSpPr>
        <p:spPr>
          <a:xfrm>
            <a:off x="5140011" y="2797743"/>
            <a:ext cx="9033329" cy="1719702"/>
          </a:xfrm>
          <a:prstGeom prst="rect">
            <a:avLst/>
          </a:prstGeom>
        </p:spPr>
        <p:txBody>
          <a:bodyPr wrap="square">
            <a:spAutoFit/>
          </a:bodyPr>
          <a:lstStyle/>
          <a:p>
            <a:pPr algn="l">
              <a:lnSpc>
                <a:spcPct val="150000"/>
              </a:lnSpc>
            </a:pPr>
            <a:r>
              <a:rPr lang="en-US" b="1" dirty="0">
                <a:latin typeface="Times New Roman" panose="02020603050405020304" pitchFamily="18" charset="0"/>
                <a:cs typeface="Times New Roman" panose="02020603050405020304" pitchFamily="18" charset="0"/>
              </a:rPr>
              <a:t>Key Results: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proposed model demonstrated significantly better performance across all metrics for topic coherence compared to </a:t>
            </a:r>
            <a:r>
              <a:rPr lang="en-US" dirty="0" err="1">
                <a:latin typeface="Times New Roman" panose="02020603050405020304" pitchFamily="18" charset="0"/>
                <a:cs typeface="Times New Roman" panose="02020603050405020304" pitchFamily="18" charset="0"/>
              </a:rPr>
              <a:t>BERTopic</a:t>
            </a:r>
            <a:r>
              <a:rPr lang="en-US" dirty="0">
                <a:latin typeface="Times New Roman" panose="02020603050405020304" pitchFamily="18" charset="0"/>
                <a:cs typeface="Times New Roman" panose="02020603050405020304" pitchFamily="18" charset="0"/>
              </a:rPr>
              <a:t> and traditional models.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model's output generated interpretable and meaningful topics.</a:t>
            </a:r>
          </a:p>
        </p:txBody>
      </p:sp>
      <p:sp>
        <p:nvSpPr>
          <p:cNvPr id="13" name="Rectangle 12">
            <a:extLst>
              <a:ext uri="{FF2B5EF4-FFF2-40B4-BE49-F238E27FC236}">
                <a16:creationId xmlns:a16="http://schemas.microsoft.com/office/drawing/2014/main" id="{603C902B-2250-49DD-996A-F76ED12F8E7F}"/>
              </a:ext>
            </a:extLst>
          </p:cNvPr>
          <p:cNvSpPr/>
          <p:nvPr/>
        </p:nvSpPr>
        <p:spPr>
          <a:xfrm>
            <a:off x="7908473" y="4647236"/>
            <a:ext cx="6721927" cy="3366563"/>
          </a:xfrm>
          <a:prstGeom prst="rect">
            <a:avLst/>
          </a:prstGeom>
        </p:spPr>
        <p:txBody>
          <a:bodyPr wrap="square">
            <a:spAutoFit/>
          </a:bodyPr>
          <a:lstStyle/>
          <a:p>
            <a:pPr>
              <a:lnSpc>
                <a:spcPct val="150000"/>
              </a:lnSpc>
            </a:pPr>
            <a:r>
              <a:rPr lang="en-US" b="1" dirty="0">
                <a:solidFill>
                  <a:srgbClr val="FFC000"/>
                </a:solidFill>
                <a:latin typeface="Times New Roman" panose="02020603050405020304" pitchFamily="18" charset="0"/>
                <a:cs typeface="Times New Roman" panose="02020603050405020304" pitchFamily="18" charset="0"/>
              </a:rPr>
              <a:t>Strengths of the Method:</a:t>
            </a:r>
            <a:endParaRPr lang="en-US" dirty="0">
              <a:solidFill>
                <a:srgbClr val="FFC000"/>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Semantic-centric:</a:t>
            </a:r>
            <a:r>
              <a:rPr lang="en-US" dirty="0">
                <a:solidFill>
                  <a:schemeClr val="bg1"/>
                </a:solidFill>
                <a:latin typeface="Times New Roman" panose="02020603050405020304" pitchFamily="18" charset="0"/>
                <a:cs typeface="Times New Roman" panose="02020603050405020304" pitchFamily="18" charset="0"/>
              </a:rPr>
              <a:t> Focuses on the </a:t>
            </a:r>
            <a:r>
              <a:rPr lang="en-US" b="1" dirty="0">
                <a:solidFill>
                  <a:schemeClr val="bg1"/>
                </a:solidFill>
                <a:latin typeface="Times New Roman" panose="02020603050405020304" pitchFamily="18" charset="0"/>
                <a:cs typeface="Times New Roman" panose="02020603050405020304" pitchFamily="18" charset="0"/>
              </a:rPr>
              <a:t>concept</a:t>
            </a:r>
            <a:r>
              <a:rPr lang="en-US" dirty="0">
                <a:solidFill>
                  <a:schemeClr val="bg1"/>
                </a:solidFill>
                <a:latin typeface="Times New Roman" panose="02020603050405020304" pitchFamily="18" charset="0"/>
                <a:cs typeface="Times New Roman" panose="02020603050405020304" pitchFamily="18" charset="0"/>
              </a:rPr>
              <a:t> of words rather than their </a:t>
            </a:r>
            <a:r>
              <a:rPr lang="en-US" b="1" dirty="0">
                <a:solidFill>
                  <a:schemeClr val="bg1"/>
                </a:solidFill>
                <a:latin typeface="Times New Roman" panose="02020603050405020304" pitchFamily="18" charset="0"/>
                <a:cs typeface="Times New Roman" panose="02020603050405020304" pitchFamily="18" charset="0"/>
              </a:rPr>
              <a:t>repetition</a:t>
            </a:r>
            <a:r>
              <a:rPr lang="en-US" dirty="0">
                <a:solidFill>
                  <a:schemeClr val="bg1"/>
                </a:solidFill>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Modular design</a:t>
            </a:r>
            <a:endParaRPr lang="en-US"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Unsupervised</a:t>
            </a:r>
            <a:endParaRPr lang="en-US"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Automatic noise removal and outlier data management</a:t>
            </a:r>
            <a:endParaRPr lang="en-US"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Controllability:</a:t>
            </a:r>
            <a:r>
              <a:rPr lang="en-US" dirty="0">
                <a:solidFill>
                  <a:schemeClr val="bg1"/>
                </a:solidFill>
                <a:latin typeface="Times New Roman" panose="02020603050405020304" pitchFamily="18" charset="0"/>
                <a:cs typeface="Times New Roman" panose="02020603050405020304" pitchFamily="18" charset="0"/>
              </a:rPr>
              <a:t> Users can adjust the </a:t>
            </a:r>
            <a:r>
              <a:rPr lang="en-US" b="1" dirty="0">
                <a:solidFill>
                  <a:schemeClr val="bg1"/>
                </a:solidFill>
                <a:latin typeface="Times New Roman" panose="02020603050405020304" pitchFamily="18" charset="0"/>
                <a:cs typeface="Times New Roman" panose="02020603050405020304" pitchFamily="18" charset="0"/>
              </a:rPr>
              <a:t>similarity threshold</a:t>
            </a:r>
            <a:r>
              <a:rPr lang="en-US" dirty="0">
                <a:solidFill>
                  <a:schemeClr val="bg1"/>
                </a:solidFill>
                <a:latin typeface="Times New Roman" panose="02020603050405020304" pitchFamily="18" charset="0"/>
                <a:cs typeface="Times New Roman" panose="02020603050405020304" pitchFamily="18" charset="0"/>
              </a:rPr>
              <a:t> to merge or separate topics.</a:t>
            </a:r>
          </a:p>
        </p:txBody>
      </p:sp>
      <p:sp>
        <p:nvSpPr>
          <p:cNvPr id="14" name="Rectangle 13">
            <a:extLst>
              <a:ext uri="{FF2B5EF4-FFF2-40B4-BE49-F238E27FC236}">
                <a16:creationId xmlns:a16="http://schemas.microsoft.com/office/drawing/2014/main" id="{65C5FEB9-946A-4FE4-9EBB-C7E75A8D791C}"/>
              </a:ext>
            </a:extLst>
          </p:cNvPr>
          <p:cNvSpPr/>
          <p:nvPr/>
        </p:nvSpPr>
        <p:spPr>
          <a:xfrm>
            <a:off x="364671" y="5152117"/>
            <a:ext cx="8001000" cy="2951064"/>
          </a:xfrm>
          <a:prstGeom prst="rect">
            <a:avLst/>
          </a:prstGeom>
        </p:spPr>
        <p:txBody>
          <a:bodyPr wrap="square">
            <a:spAutoFit/>
          </a:bodyPr>
          <a:lstStyle/>
          <a:p>
            <a:pPr>
              <a:lnSpc>
                <a:spcPct val="150000"/>
              </a:lnSpc>
            </a:pPr>
            <a:r>
              <a:rPr lang="en-US" b="1" dirty="0">
                <a:solidFill>
                  <a:srgbClr val="FFC000"/>
                </a:solidFill>
                <a:latin typeface="Times New Roman" panose="02020603050405020304" pitchFamily="18" charset="0"/>
                <a:cs typeface="Times New Roman" panose="02020603050405020304" pitchFamily="18" charset="0"/>
              </a:rPr>
              <a:t>Weaknesses or Limitations:</a:t>
            </a:r>
            <a:endParaRPr lang="en-US" dirty="0">
              <a:solidFill>
                <a:srgbClr val="FFC000"/>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High computational cost</a:t>
            </a:r>
          </a:p>
          <a:p>
            <a:pPr marL="285750"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Sensitivity to parameters</a:t>
            </a:r>
          </a:p>
          <a:p>
            <a:pPr marL="285750"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Failure to identify hidden subtopics: Weakness in discovering topics embedded within the text.</a:t>
            </a:r>
          </a:p>
          <a:p>
            <a:pPr marL="285750" indent="-285750">
              <a:lnSpc>
                <a:spcPct val="150000"/>
              </a:lnSpc>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Limited scope of evaluation: Other metrics, such as topic diversity, were less explored, with the main focus being on coherence.</a:t>
            </a:r>
          </a:p>
        </p:txBody>
      </p:sp>
    </p:spTree>
    <p:extLst>
      <p:ext uri="{BB962C8B-B14F-4D97-AF65-F5344CB8AC3E}">
        <p14:creationId xmlns:p14="http://schemas.microsoft.com/office/powerpoint/2010/main" val="1228480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69CAB6-6444-4976-AD51-A2135AA58F7A}"/>
              </a:ext>
            </a:extLst>
          </p:cNvPr>
          <p:cNvSpPr/>
          <p:nvPr/>
        </p:nvSpPr>
        <p:spPr>
          <a:xfrm>
            <a:off x="88900" y="239555"/>
            <a:ext cx="10528300" cy="548099"/>
          </a:xfrm>
          <a:prstGeom prst="rect">
            <a:avLst/>
          </a:prstGeom>
        </p:spPr>
        <p:txBody>
          <a:bodyPr wrap="square">
            <a:spAutoFit/>
          </a:bodyPr>
          <a:lstStyle/>
          <a:p>
            <a:pPr marL="457200" algn="l">
              <a:lnSpc>
                <a:spcPct val="115000"/>
              </a:lnSpc>
              <a:spcAft>
                <a:spcPts val="800"/>
              </a:spcAft>
            </a:pPr>
            <a:r>
              <a:rPr lang="en-US" sz="2800" b="1" dirty="0">
                <a:solidFill>
                  <a:srgbClr val="FFC000"/>
                </a:solidFill>
                <a:latin typeface="Times New Roman" panose="02020603050405020304" pitchFamily="18" charset="0"/>
                <a:cs typeface="Times New Roman" panose="02020603050405020304" pitchFamily="18" charset="0"/>
              </a:rPr>
              <a:t>Practical Applications of Transformer-based Topic Modeling</a:t>
            </a:r>
            <a:endParaRPr lang="en-US" sz="4000" dirty="0">
              <a:solidFill>
                <a:srgbClr val="FFC00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23001E8C-47FC-41D8-80F9-5B69A6EA28DA}"/>
              </a:ext>
            </a:extLst>
          </p:cNvPr>
          <p:cNvSpPr/>
          <p:nvPr/>
        </p:nvSpPr>
        <p:spPr>
          <a:xfrm>
            <a:off x="620274" y="897979"/>
            <a:ext cx="5915402" cy="400110"/>
          </a:xfrm>
          <a:prstGeom prst="rect">
            <a:avLst/>
          </a:prstGeom>
        </p:spPr>
        <p:txBody>
          <a:bodyPr wrap="none">
            <a:spAutoFit/>
          </a:bodyPr>
          <a:lstStyle/>
          <a:p>
            <a:pPr marL="285750" indent="-285750" algn="l">
              <a:spcBef>
                <a:spcPts val="1200"/>
              </a:spcBef>
              <a:spcAft>
                <a:spcPts val="1200"/>
              </a:spcAft>
              <a:buFont typeface="Wingdings" panose="05000000000000000000" pitchFamily="2" charset="2"/>
              <a:buChar char="q"/>
            </a:pPr>
            <a:r>
              <a:rPr lang="en-US" sz="2000" b="1" dirty="0">
                <a:solidFill>
                  <a:schemeClr val="bg1"/>
                </a:solidFill>
                <a:latin typeface="Times New Roman" panose="02020603050405020304" pitchFamily="18" charset="0"/>
                <a:cs typeface="Times New Roman" panose="02020603050405020304" pitchFamily="18" charset="0"/>
              </a:rPr>
              <a:t>Advanced and intelligent content analysis systems</a:t>
            </a:r>
            <a:endParaRPr lang="en-US"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BA1BF071-2F0C-44A3-8964-5199A3B8467C}"/>
              </a:ext>
            </a:extLst>
          </p:cNvPr>
          <p:cNvSpPr/>
          <p:nvPr/>
        </p:nvSpPr>
        <p:spPr>
          <a:xfrm>
            <a:off x="951900" y="1320800"/>
            <a:ext cx="14010126" cy="646331"/>
          </a:xfrm>
          <a:prstGeom prst="rect">
            <a:avLst/>
          </a:prstGeom>
        </p:spPr>
        <p:txBody>
          <a:bodyPr wrap="square">
            <a:spAutoFit/>
          </a:bodyPr>
          <a:lstStyle/>
          <a:p>
            <a:pPr algn="l"/>
            <a:r>
              <a:rPr lang="en-US" dirty="0">
                <a:solidFill>
                  <a:schemeClr val="bg1"/>
                </a:solidFill>
                <a:latin typeface="Times New Roman" panose="02020603050405020304" pitchFamily="18" charset="0"/>
                <a:cs typeface="Times New Roman" panose="02020603050405020304" pitchFamily="18" charset="0"/>
              </a:rPr>
              <a:t>Advanced social media monitoring and analysis platforms such as </a:t>
            </a:r>
            <a:r>
              <a:rPr lang="en-US" dirty="0" err="1">
                <a:solidFill>
                  <a:schemeClr val="bg1"/>
                </a:solidFill>
                <a:latin typeface="Times New Roman" panose="02020603050405020304" pitchFamily="18" charset="0"/>
                <a:cs typeface="Times New Roman" panose="02020603050405020304" pitchFamily="18" charset="0"/>
              </a:rPr>
              <a:t>Brandwatch</a:t>
            </a:r>
            <a:r>
              <a:rPr lang="en-US" dirty="0">
                <a:solidFill>
                  <a:schemeClr val="bg1"/>
                </a:solidFill>
                <a:latin typeface="Times New Roman" panose="02020603050405020304" pitchFamily="18" charset="0"/>
                <a:cs typeface="Times New Roman" panose="02020603050405020304" pitchFamily="18" charset="0"/>
              </a:rPr>
              <a:t> and </a:t>
            </a:r>
            <a:r>
              <a:rPr lang="en-US" dirty="0" err="1">
                <a:solidFill>
                  <a:schemeClr val="bg1"/>
                </a:solidFill>
                <a:latin typeface="Times New Roman" panose="02020603050405020304" pitchFamily="18" charset="0"/>
                <a:cs typeface="Times New Roman" panose="02020603050405020304" pitchFamily="18" charset="0"/>
              </a:rPr>
              <a:t>NetBase</a:t>
            </a:r>
            <a:r>
              <a:rPr lang="en-US" dirty="0">
                <a:solidFill>
                  <a:schemeClr val="bg1"/>
                </a:solidFill>
                <a:latin typeface="Times New Roman" panose="02020603050405020304" pitchFamily="18" charset="0"/>
                <a:cs typeface="Times New Roman" panose="02020603050405020304" pitchFamily="18" charset="0"/>
              </a:rPr>
              <a:t> Quid, aimed at achieving a more nuanced</a:t>
            </a:r>
            <a:r>
              <a:rPr lang="fa-IR"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and informed understanding of conversations.</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D7CC841-3E4D-4186-BA81-212A95CA0A1E}"/>
              </a:ext>
            </a:extLst>
          </p:cNvPr>
          <p:cNvSpPr/>
          <p:nvPr/>
        </p:nvSpPr>
        <p:spPr>
          <a:xfrm>
            <a:off x="620274" y="2208768"/>
            <a:ext cx="7111434" cy="400110"/>
          </a:xfrm>
          <a:prstGeom prst="rect">
            <a:avLst/>
          </a:prstGeom>
        </p:spPr>
        <p:txBody>
          <a:bodyPr wrap="none">
            <a:spAutoFit/>
          </a:bodyPr>
          <a:lstStyle/>
          <a:p>
            <a:pPr marL="342900" indent="-342900" algn="l">
              <a:buFont typeface="Wingdings" panose="05000000000000000000" pitchFamily="2" charset="2"/>
              <a:buChar char="q"/>
            </a:pPr>
            <a:r>
              <a:rPr lang="en-US" sz="2000" b="1" dirty="0">
                <a:solidFill>
                  <a:schemeClr val="bg1"/>
                </a:solidFill>
                <a:latin typeface="Times New Roman" panose="02020603050405020304" pitchFamily="18" charset="0"/>
                <a:cs typeface="Times New Roman" panose="02020603050405020304" pitchFamily="18" charset="0"/>
              </a:rPr>
              <a:t>Intelligent customer support and complaint analysis systems</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5F94E531-2705-4418-B756-B028390C6AB6}"/>
              </a:ext>
            </a:extLst>
          </p:cNvPr>
          <p:cNvSpPr/>
          <p:nvPr/>
        </p:nvSpPr>
        <p:spPr>
          <a:xfrm>
            <a:off x="951900" y="2672378"/>
            <a:ext cx="9525000" cy="369332"/>
          </a:xfrm>
          <a:prstGeom prst="rect">
            <a:avLst/>
          </a:prstGeom>
        </p:spPr>
        <p:txBody>
          <a:bodyPr wrap="square">
            <a:spAutoFit/>
          </a:bodyPr>
          <a:lstStyle/>
          <a:p>
            <a:pPr marR="0" lvl="0" algn="l">
              <a:spcBef>
                <a:spcPts val="500"/>
              </a:spcBef>
              <a:spcAft>
                <a:spcPts val="600"/>
              </a:spcAft>
              <a:buSzPts val="1000"/>
              <a:tabLst>
                <a:tab pos="457200" algn="l"/>
              </a:tabLst>
            </a:pPr>
            <a:r>
              <a:rPr lang="en-US" dirty="0">
                <a:solidFill>
                  <a:schemeClr val="bg1"/>
                </a:solidFill>
                <a:latin typeface="Times New Roman" panose="02020603050405020304" pitchFamily="18" charset="0"/>
                <a:cs typeface="Times New Roman" panose="02020603050405020304" pitchFamily="18" charset="0"/>
              </a:rPr>
              <a:t>These systems can extract complex topics and subtopics from textual conversations (chat, email).</a:t>
            </a:r>
            <a:endParaRPr lang="en-US" sz="20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E9C10C8C-E5FE-4569-A2A0-C5D496C7F5D0}"/>
              </a:ext>
            </a:extLst>
          </p:cNvPr>
          <p:cNvSpPr/>
          <p:nvPr/>
        </p:nvSpPr>
        <p:spPr>
          <a:xfrm>
            <a:off x="1005688" y="5717689"/>
            <a:ext cx="5491888" cy="369332"/>
          </a:xfrm>
          <a:prstGeom prst="rect">
            <a:avLst/>
          </a:prstGeom>
        </p:spPr>
        <p:txBody>
          <a:bodyPr wrap="none">
            <a:spAutoFit/>
          </a:bodyPr>
          <a:lstStyle/>
          <a:p>
            <a:pPr algn="l"/>
            <a:r>
              <a:rPr lang="en-US" b="1" dirty="0">
                <a:solidFill>
                  <a:schemeClr val="bg1"/>
                </a:solidFill>
                <a:latin typeface="Times New Roman" panose="02020603050405020304" pitchFamily="18" charset="0"/>
                <a:cs typeface="Times New Roman" panose="02020603050405020304" pitchFamily="18" charset="0"/>
              </a:rPr>
              <a:t>Next-generation research systems and digital libraries</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47E6AA50-1BB4-4365-A818-32B9E590A771}"/>
              </a:ext>
            </a:extLst>
          </p:cNvPr>
          <p:cNvSpPr/>
          <p:nvPr/>
        </p:nvSpPr>
        <p:spPr>
          <a:xfrm>
            <a:off x="951900" y="6129517"/>
            <a:ext cx="12534900" cy="369332"/>
          </a:xfrm>
          <a:prstGeom prst="rect">
            <a:avLst/>
          </a:prstGeom>
        </p:spPr>
        <p:txBody>
          <a:bodyPr wrap="square">
            <a:spAutoFit/>
          </a:bodyPr>
          <a:lstStyle/>
          <a:p>
            <a:pPr marR="0" lvl="0" algn="l">
              <a:spcBef>
                <a:spcPts val="500"/>
              </a:spcBef>
              <a:spcAft>
                <a:spcPts val="600"/>
              </a:spcAft>
              <a:buSzPts val="1000"/>
              <a:tabLst>
                <a:tab pos="457200" algn="l"/>
              </a:tabLst>
            </a:pPr>
            <a:r>
              <a:rPr lang="en-US" b="1" dirty="0">
                <a:solidFill>
                  <a:schemeClr val="bg1"/>
                </a:solidFill>
                <a:latin typeface="Times New Roman" panose="02020603050405020304" pitchFamily="18" charset="0"/>
                <a:cs typeface="Times New Roman" panose="02020603050405020304" pitchFamily="18" charset="0"/>
              </a:rPr>
              <a:t>Scientific databases</a:t>
            </a:r>
            <a:r>
              <a:rPr lang="en-US" dirty="0">
                <a:solidFill>
                  <a:schemeClr val="bg1"/>
                </a:solidFill>
                <a:latin typeface="Times New Roman" panose="02020603050405020304" pitchFamily="18" charset="0"/>
                <a:cs typeface="Times New Roman" panose="02020603050405020304" pitchFamily="18" charset="0"/>
              </a:rPr>
              <a:t> such as Semantic Scholar and </a:t>
            </a:r>
            <a:r>
              <a:rPr lang="en-US" dirty="0" err="1">
                <a:solidFill>
                  <a:schemeClr val="bg1"/>
                </a:solidFill>
                <a:latin typeface="Times New Roman" panose="02020603050405020304" pitchFamily="18" charset="0"/>
                <a:cs typeface="Times New Roman" panose="02020603050405020304" pitchFamily="18" charset="0"/>
              </a:rPr>
              <a:t>arXiv</a:t>
            </a:r>
            <a:r>
              <a:rPr lang="en-US" dirty="0">
                <a:solidFill>
                  <a:schemeClr val="bg1"/>
                </a:solidFill>
                <a:latin typeface="Times New Roman" panose="02020603050405020304" pitchFamily="18" charset="0"/>
                <a:cs typeface="Times New Roman" panose="02020603050405020304" pitchFamily="18" charset="0"/>
              </a:rPr>
              <a:t>, designed for recommending articles with related concepts.</a:t>
            </a:r>
            <a:endParaRPr lang="en-US" sz="20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EE123337-E0D4-458B-894A-C830B63AFB0A}"/>
              </a:ext>
            </a:extLst>
          </p:cNvPr>
          <p:cNvSpPr/>
          <p:nvPr/>
        </p:nvSpPr>
        <p:spPr>
          <a:xfrm>
            <a:off x="620274" y="6825446"/>
            <a:ext cx="4442242" cy="400110"/>
          </a:xfrm>
          <a:prstGeom prst="rect">
            <a:avLst/>
          </a:prstGeom>
        </p:spPr>
        <p:txBody>
          <a:bodyPr wrap="none">
            <a:spAutoFit/>
          </a:bodyPr>
          <a:lstStyle/>
          <a:p>
            <a:pPr marL="285750" indent="-285750" algn="l">
              <a:buFont typeface="Wingdings" panose="05000000000000000000" pitchFamily="2" charset="2"/>
              <a:buChar char="q"/>
            </a:pPr>
            <a:r>
              <a:rPr lang="en-US" sz="2000" b="1" dirty="0">
                <a:solidFill>
                  <a:schemeClr val="bg1"/>
                </a:solidFill>
                <a:latin typeface="Times New Roman" panose="02020603050405020304" pitchFamily="18" charset="0"/>
                <a:cs typeface="Times New Roman" panose="02020603050405020304" pitchFamily="18" charset="0"/>
              </a:rPr>
              <a:t>Cybersecurity monitoring platforms</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A7F58B08-61F0-4184-897D-30CD9EAFEDA2}"/>
              </a:ext>
            </a:extLst>
          </p:cNvPr>
          <p:cNvSpPr/>
          <p:nvPr/>
        </p:nvSpPr>
        <p:spPr>
          <a:xfrm>
            <a:off x="1041400" y="7169378"/>
            <a:ext cx="13920626" cy="880369"/>
          </a:xfrm>
          <a:prstGeom prst="rect">
            <a:avLst/>
          </a:prstGeom>
        </p:spPr>
        <p:txBody>
          <a:bodyPr wrap="square">
            <a:spAutoFit/>
          </a:bodyPr>
          <a:lstStyle/>
          <a:p>
            <a:pPr algn="l">
              <a:lnSpc>
                <a:spcPct val="150000"/>
              </a:lnSpc>
            </a:pPr>
            <a:r>
              <a:rPr lang="en-US" b="1" dirty="0">
                <a:solidFill>
                  <a:schemeClr val="bg1"/>
                </a:solidFill>
                <a:latin typeface="Times New Roman" panose="02020603050405020304" pitchFamily="18" charset="0"/>
                <a:cs typeface="Times New Roman" panose="02020603050405020304" pitchFamily="18" charset="0"/>
              </a:rPr>
              <a:t>Cyber threat analysis systems:</a:t>
            </a:r>
            <a:r>
              <a:rPr lang="en-US" dirty="0">
                <a:solidFill>
                  <a:schemeClr val="bg1"/>
                </a:solidFill>
                <a:latin typeface="Times New Roman" panose="02020603050405020304" pitchFamily="18" charset="0"/>
                <a:cs typeface="Times New Roman" panose="02020603050405020304" pitchFamily="18" charset="0"/>
              </a:rPr>
              <a:t> Used for processing large volumes of security reports, incident logs, and extracting </a:t>
            </a:r>
            <a:r>
              <a:rPr lang="en-US" b="1" dirty="0">
                <a:solidFill>
                  <a:schemeClr val="bg1"/>
                </a:solidFill>
                <a:latin typeface="Times New Roman" panose="02020603050405020304" pitchFamily="18" charset="0"/>
                <a:cs typeface="Times New Roman" panose="02020603050405020304" pitchFamily="18" charset="0"/>
              </a:rPr>
              <a:t>emerging threat topics</a:t>
            </a:r>
            <a:r>
              <a:rPr lang="en-US" dirty="0">
                <a:solidFill>
                  <a:schemeClr val="bg1"/>
                </a:solidFill>
                <a:latin typeface="Times New Roman" panose="02020603050405020304" pitchFamily="18" charset="0"/>
                <a:cs typeface="Times New Roman" panose="02020603050405020304" pitchFamily="18" charset="0"/>
              </a:rPr>
              <a:t>, </a:t>
            </a:r>
            <a:endParaRPr lang="fa-IR" dirty="0">
              <a:solidFill>
                <a:schemeClr val="bg1"/>
              </a:solidFill>
              <a:latin typeface="Times New Roman" panose="02020603050405020304" pitchFamily="18" charset="0"/>
              <a:cs typeface="Times New Roman" panose="02020603050405020304" pitchFamily="18" charset="0"/>
            </a:endParaRPr>
          </a:p>
          <a:p>
            <a:pPr algn="l">
              <a:lnSpc>
                <a:spcPct val="150000"/>
              </a:lnSpc>
            </a:pPr>
            <a:r>
              <a:rPr lang="en-US" b="1" dirty="0">
                <a:solidFill>
                  <a:schemeClr val="bg1"/>
                </a:solidFill>
                <a:latin typeface="Times New Roman" panose="02020603050405020304" pitchFamily="18" charset="0"/>
                <a:cs typeface="Times New Roman" panose="02020603050405020304" pitchFamily="18" charset="0"/>
              </a:rPr>
              <a:t>attack techniques (TTPs)</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indicators of compromise (IOCs)</a:t>
            </a:r>
            <a:r>
              <a:rPr lang="en-US" dirty="0">
                <a:solidFill>
                  <a:schemeClr val="bg1"/>
                </a:solidFill>
                <a:latin typeface="Times New Roman" panose="02020603050405020304" pitchFamily="18" charset="0"/>
                <a:cs typeface="Times New Roman" panose="02020603050405020304" pitchFamily="18" charset="0"/>
              </a:rPr>
              <a:t> from them.</a:t>
            </a:r>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1565260-998E-4173-B1C2-0A419227864D}"/>
              </a:ext>
            </a:extLst>
          </p:cNvPr>
          <p:cNvSpPr/>
          <p:nvPr/>
        </p:nvSpPr>
        <p:spPr>
          <a:xfrm>
            <a:off x="598506" y="5343099"/>
            <a:ext cx="9334500" cy="369332"/>
          </a:xfrm>
          <a:prstGeom prst="rect">
            <a:avLst/>
          </a:prstGeom>
        </p:spPr>
        <p:txBody>
          <a:bodyPr wrap="square">
            <a:spAutoFit/>
          </a:bodyPr>
          <a:lstStyle/>
          <a:p>
            <a:pPr marL="342900" indent="-342900">
              <a:buFont typeface="Wingdings" panose="05000000000000000000" pitchFamily="2" charset="2"/>
              <a:buChar char="q"/>
            </a:pPr>
            <a:r>
              <a:rPr lang="en-US" b="1" dirty="0">
                <a:solidFill>
                  <a:schemeClr val="bg1"/>
                </a:solidFill>
                <a:latin typeface="Times New Roman" panose="02020603050405020304" pitchFamily="18" charset="0"/>
                <a:cs typeface="Times New Roman" panose="02020603050405020304" pitchFamily="18" charset="0"/>
              </a:rPr>
              <a:t>Semantic search engines and organizational knowledge management systems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DDAE6F63-36E7-49D1-BC58-EA76EF52F04F}"/>
              </a:ext>
            </a:extLst>
          </p:cNvPr>
          <p:cNvSpPr/>
          <p:nvPr/>
        </p:nvSpPr>
        <p:spPr>
          <a:xfrm>
            <a:off x="672500" y="3358040"/>
            <a:ext cx="11834012" cy="1704569"/>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b="1" dirty="0">
                <a:solidFill>
                  <a:schemeClr val="bg1"/>
                </a:solidFill>
                <a:latin typeface="Times New Roman" panose="02020603050405020304" pitchFamily="18" charset="0"/>
                <a:cs typeface="Times New Roman" panose="02020603050405020304" pitchFamily="18" charset="0"/>
              </a:rPr>
              <a:t>Content Recommender System</a:t>
            </a:r>
            <a:r>
              <a:rPr lang="fa-IR" b="1" dirty="0">
                <a:solidFill>
                  <a:schemeClr val="bg1"/>
                </a:solidFill>
                <a:latin typeface="Times New Roman" panose="02020603050405020304" pitchFamily="18" charset="0"/>
                <a:cs typeface="Times New Roman" panose="02020603050405020304" pitchFamily="18" charset="0"/>
              </a:rPr>
              <a:t>:</a:t>
            </a:r>
            <a:r>
              <a:rPr lang="en-US" dirty="0">
                <a:solidFill>
                  <a:schemeClr val="bg1"/>
                </a:solidFill>
                <a:latin typeface="Times New Roman" panose="02020603050405020304" pitchFamily="18" charset="0"/>
                <a:cs typeface="Times New Roman" panose="02020603050405020304" pitchFamily="18" charset="0"/>
              </a:rPr>
              <a:t> Recommending articles, news, and content based on user interests</a:t>
            </a:r>
          </a:p>
          <a:p>
            <a:pPr>
              <a:lnSpc>
                <a:spcPct val="150000"/>
              </a:lnSpc>
            </a:pPr>
            <a:r>
              <a:rPr lang="fa-IR"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Extract topics from the content consumed by the user</a:t>
            </a:r>
          </a:p>
          <a:p>
            <a:pPr>
              <a:lnSpc>
                <a:spcPct val="150000"/>
              </a:lnSpc>
            </a:pPr>
            <a:r>
              <a:rPr lang="fa-IR"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Match with topics of new content</a:t>
            </a:r>
          </a:p>
          <a:p>
            <a:pPr>
              <a:lnSpc>
                <a:spcPct val="150000"/>
              </a:lnSpc>
            </a:pPr>
            <a:r>
              <a:rPr lang="fa-IR"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Suggest content with similar topics</a:t>
            </a:r>
          </a:p>
        </p:txBody>
      </p:sp>
    </p:spTree>
    <p:extLst>
      <p:ext uri="{BB962C8B-B14F-4D97-AF65-F5344CB8AC3E}">
        <p14:creationId xmlns:p14="http://schemas.microsoft.com/office/powerpoint/2010/main" val="3161738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1363</TotalTime>
  <Words>453</Words>
  <Application>Microsoft Office PowerPoint</Application>
  <PresentationFormat>Custom</PresentationFormat>
  <Paragraphs>105</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Wingdings</vt:lpstr>
      <vt:lpstr>quote-cjk-patch</vt:lpstr>
      <vt:lpstr>Menlo</vt:lpstr>
      <vt:lpstr>Calibri Light</vt:lpstr>
      <vt:lpstr>Times New Roman</vt:lpstr>
      <vt:lpstr>Arial</vt:lpstr>
      <vt:lpstr>Cambria Math</vt:lpstr>
      <vt:lpstr>Calibri</vt:lpstr>
      <vt:lpstr>Office Theme</vt:lpstr>
      <vt:lpstr>Semantic-Driven Topic Modeling Using Transformer-Based Embeddings and Clustering Algorithms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Shahali, Hengameh</cp:lastModifiedBy>
  <cp:revision>366</cp:revision>
  <dcterms:created xsi:type="dcterms:W3CDTF">2025-12-19T14:36:11Z</dcterms:created>
  <dcterms:modified xsi:type="dcterms:W3CDTF">2026-01-01T15:59:33Z</dcterms:modified>
</cp:coreProperties>
</file>